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662" r:id="rId2"/>
    <p:sldId id="257" r:id="rId3"/>
    <p:sldId id="258" r:id="rId4"/>
    <p:sldId id="273" r:id="rId5"/>
    <p:sldId id="259" r:id="rId6"/>
    <p:sldId id="261" r:id="rId7"/>
    <p:sldId id="260" r:id="rId8"/>
    <p:sldId id="262" r:id="rId9"/>
    <p:sldId id="384" r:id="rId10"/>
    <p:sldId id="389" r:id="rId11"/>
    <p:sldId id="391" r:id="rId12"/>
    <p:sldId id="265" r:id="rId13"/>
    <p:sldId id="267" r:id="rId14"/>
    <p:sldId id="268" r:id="rId15"/>
    <p:sldId id="550" r:id="rId16"/>
    <p:sldId id="552" r:id="rId17"/>
    <p:sldId id="551" r:id="rId18"/>
    <p:sldId id="565" r:id="rId19"/>
    <p:sldId id="566" r:id="rId20"/>
    <p:sldId id="567" r:id="rId21"/>
    <p:sldId id="568" r:id="rId22"/>
    <p:sldId id="569" r:id="rId23"/>
    <p:sldId id="570" r:id="rId24"/>
    <p:sldId id="571" r:id="rId25"/>
    <p:sldId id="572" r:id="rId26"/>
    <p:sldId id="573" r:id="rId27"/>
    <p:sldId id="574" r:id="rId28"/>
    <p:sldId id="269" r:id="rId29"/>
    <p:sldId id="270" r:id="rId30"/>
    <p:sldId id="587" r:id="rId31"/>
    <p:sldId id="588" r:id="rId32"/>
    <p:sldId id="593" r:id="rId33"/>
    <p:sldId id="590" r:id="rId34"/>
    <p:sldId id="591" r:id="rId35"/>
    <p:sldId id="592" r:id="rId36"/>
    <p:sldId id="27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sorterViewPr>
    <p:cViewPr>
      <p:scale>
        <a:sx n="100" d="100"/>
        <a:sy n="100" d="100"/>
      </p:scale>
      <p:origin x="0" y="-1409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09989E-9A23-4169-AAA3-2605C373462C}" type="datetimeFigureOut">
              <a:rPr lang="en-IN" smtClean="0"/>
              <a:t>14-04-2026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2EF30C-BF44-4693-B0C5-A265F8F743A7}" type="slidenum">
              <a:rPr lang="en-IN" smtClean="0"/>
              <a:t>‹#›</a:t>
            </a:fld>
            <a:endParaRPr lang="en-IN"/>
          </a:p>
        </p:txBody>
      </p:sp>
    </p:spTree>
    <p:extLst>
      <p:ext uri="{BB962C8B-B14F-4D97-AF65-F5344CB8AC3E}">
        <p14:creationId xmlns:p14="http://schemas.microsoft.com/office/powerpoint/2010/main" val="1144545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0CE98061-E7AE-CC09-D708-5B077A32DE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rgbClr val="CC3300"/>
                </a:solidFill>
                <a:latin typeface="Tahoma" panose="020B0604030504040204" pitchFamily="34" charset="0"/>
                <a:cs typeface="Arial" panose="020B0604020202020204" pitchFamily="34" charset="0"/>
              </a:defRPr>
            </a:lvl1pPr>
            <a:lvl2pPr marL="742950" indent="-285750" eaLnBrk="0" hangingPunct="0">
              <a:defRPr sz="2800" b="1">
                <a:solidFill>
                  <a:srgbClr val="CC3300"/>
                </a:solidFill>
                <a:latin typeface="Tahoma" panose="020B0604030504040204" pitchFamily="34" charset="0"/>
                <a:cs typeface="Arial" panose="020B0604020202020204" pitchFamily="34" charset="0"/>
              </a:defRPr>
            </a:lvl2pPr>
            <a:lvl3pPr marL="1143000" indent="-228600" eaLnBrk="0" hangingPunct="0">
              <a:defRPr sz="2800" b="1">
                <a:solidFill>
                  <a:srgbClr val="CC3300"/>
                </a:solidFill>
                <a:latin typeface="Tahoma" panose="020B0604030504040204" pitchFamily="34" charset="0"/>
                <a:cs typeface="Arial" panose="020B0604020202020204" pitchFamily="34" charset="0"/>
              </a:defRPr>
            </a:lvl3pPr>
            <a:lvl4pPr marL="1600200" indent="-228600" eaLnBrk="0" hangingPunct="0">
              <a:defRPr sz="2800" b="1">
                <a:solidFill>
                  <a:srgbClr val="CC3300"/>
                </a:solidFill>
                <a:latin typeface="Tahoma" panose="020B0604030504040204" pitchFamily="34" charset="0"/>
                <a:cs typeface="Arial" panose="020B0604020202020204" pitchFamily="34" charset="0"/>
              </a:defRPr>
            </a:lvl4pPr>
            <a:lvl5pPr marL="2057400" indent="-228600" eaLnBrk="0" hangingPunct="0">
              <a:defRPr sz="2800" b="1">
                <a:solidFill>
                  <a:srgbClr val="CC3300"/>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b="1">
                <a:solidFill>
                  <a:srgbClr val="CC3300"/>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b="1">
                <a:solidFill>
                  <a:srgbClr val="CC3300"/>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b="1">
                <a:solidFill>
                  <a:srgbClr val="CC3300"/>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b="1">
                <a:solidFill>
                  <a:srgbClr val="CC3300"/>
                </a:solidFill>
                <a:latin typeface="Tahoma" panose="020B0604030504040204" pitchFamily="34" charset="0"/>
                <a:cs typeface="Arial" panose="020B0604020202020204" pitchFamily="34" charset="0"/>
              </a:defRPr>
            </a:lvl9pPr>
          </a:lstStyle>
          <a:p>
            <a:fld id="{0640FCA0-D6E0-4FF5-BA57-527EDA9F5DDE}" type="slidenum">
              <a:rPr lang="en-US" altLang="en-US" sz="1200" b="0">
                <a:solidFill>
                  <a:schemeClr val="tx1"/>
                </a:solidFill>
                <a:latin typeface="Times New Roman" panose="02020603050405020304" pitchFamily="18" charset="0"/>
              </a:rPr>
              <a:pPr/>
              <a:t>9</a:t>
            </a:fld>
            <a:endParaRPr lang="en-US" altLang="en-US" sz="1200" b="0">
              <a:solidFill>
                <a:schemeClr val="tx1"/>
              </a:solidFill>
              <a:latin typeface="Times New Roman" panose="02020603050405020304" pitchFamily="18" charset="0"/>
            </a:endParaRPr>
          </a:p>
        </p:txBody>
      </p:sp>
      <p:sp>
        <p:nvSpPr>
          <p:cNvPr id="47107" name="Rectangle 2">
            <a:extLst>
              <a:ext uri="{FF2B5EF4-FFF2-40B4-BE49-F238E27FC236}">
                <a16:creationId xmlns:a16="http://schemas.microsoft.com/office/drawing/2014/main" id="{8D23807E-7CF2-6B38-D366-01BDE902AE0D}"/>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C9A69C3F-691A-D11C-9C4B-3CB00B8111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13B2CA40-A0F4-CCD7-5813-9F8F5CD18EDE}"/>
              </a:ext>
            </a:extLst>
          </p:cNvPr>
          <p:cNvSpPr>
            <a:spLocks noGrp="1" noRot="1" noChangeAspect="1" noTextEdit="1"/>
          </p:cNvSpPr>
          <p:nvPr>
            <p:ph type="sldImg"/>
          </p:nvPr>
        </p:nvSpPr>
        <p:spPr>
          <a:ln/>
        </p:spPr>
      </p:sp>
      <p:sp>
        <p:nvSpPr>
          <p:cNvPr id="51203" name="Notes Placeholder 2">
            <a:extLst>
              <a:ext uri="{FF2B5EF4-FFF2-40B4-BE49-F238E27FC236}">
                <a16:creationId xmlns:a16="http://schemas.microsoft.com/office/drawing/2014/main" id="{F51C05D9-DEB8-DB4D-B3C0-94B527983C2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1204" name="Slide Number Placeholder 3">
            <a:extLst>
              <a:ext uri="{FF2B5EF4-FFF2-40B4-BE49-F238E27FC236}">
                <a16:creationId xmlns:a16="http://schemas.microsoft.com/office/drawing/2014/main" id="{DE586476-3496-2EF5-F7DC-D9F6193D4D9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rgbClr val="CC3300"/>
                </a:solidFill>
                <a:latin typeface="Tahoma" panose="020B0604030504040204" pitchFamily="34" charset="0"/>
                <a:cs typeface="Arial" panose="020B0604020202020204" pitchFamily="34" charset="0"/>
              </a:defRPr>
            </a:lvl1pPr>
            <a:lvl2pPr marL="742950" indent="-285750" eaLnBrk="0" hangingPunct="0">
              <a:defRPr sz="2800" b="1">
                <a:solidFill>
                  <a:srgbClr val="CC3300"/>
                </a:solidFill>
                <a:latin typeface="Tahoma" panose="020B0604030504040204" pitchFamily="34" charset="0"/>
                <a:cs typeface="Arial" panose="020B0604020202020204" pitchFamily="34" charset="0"/>
              </a:defRPr>
            </a:lvl2pPr>
            <a:lvl3pPr marL="1143000" indent="-228600" eaLnBrk="0" hangingPunct="0">
              <a:defRPr sz="2800" b="1">
                <a:solidFill>
                  <a:srgbClr val="CC3300"/>
                </a:solidFill>
                <a:latin typeface="Tahoma" panose="020B0604030504040204" pitchFamily="34" charset="0"/>
                <a:cs typeface="Arial" panose="020B0604020202020204" pitchFamily="34" charset="0"/>
              </a:defRPr>
            </a:lvl3pPr>
            <a:lvl4pPr marL="1600200" indent="-228600" eaLnBrk="0" hangingPunct="0">
              <a:defRPr sz="2800" b="1">
                <a:solidFill>
                  <a:srgbClr val="CC3300"/>
                </a:solidFill>
                <a:latin typeface="Tahoma" panose="020B0604030504040204" pitchFamily="34" charset="0"/>
                <a:cs typeface="Arial" panose="020B0604020202020204" pitchFamily="34" charset="0"/>
              </a:defRPr>
            </a:lvl4pPr>
            <a:lvl5pPr marL="2057400" indent="-228600" eaLnBrk="0" hangingPunct="0">
              <a:defRPr sz="2800" b="1">
                <a:solidFill>
                  <a:srgbClr val="CC3300"/>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b="1">
                <a:solidFill>
                  <a:srgbClr val="CC3300"/>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b="1">
                <a:solidFill>
                  <a:srgbClr val="CC3300"/>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b="1">
                <a:solidFill>
                  <a:srgbClr val="CC3300"/>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b="1">
                <a:solidFill>
                  <a:srgbClr val="CC3300"/>
                </a:solidFill>
                <a:latin typeface="Tahoma" panose="020B0604030504040204" pitchFamily="34" charset="0"/>
                <a:cs typeface="Arial" panose="020B0604020202020204" pitchFamily="34" charset="0"/>
              </a:defRPr>
            </a:lvl9pPr>
          </a:lstStyle>
          <a:p>
            <a:fld id="{9F45B342-A232-46C0-9505-5490AECD158A}" type="slidenum">
              <a:rPr lang="en-US" altLang="en-US" sz="1200" b="0">
                <a:solidFill>
                  <a:schemeClr val="tx1"/>
                </a:solidFill>
                <a:latin typeface="Times New Roman" panose="02020603050405020304" pitchFamily="18" charset="0"/>
              </a:rPr>
              <a:pPr/>
              <a:t>10</a:t>
            </a:fld>
            <a:endParaRPr lang="en-US" altLang="en-US" sz="1200" b="0">
              <a:solidFill>
                <a:schemeClr val="tx1"/>
              </a:solidFill>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B3DA044F-F04E-8665-BDE7-708C68087EDA}"/>
              </a:ext>
            </a:extLst>
          </p:cNvPr>
          <p:cNvSpPr>
            <a:spLocks noGrp="1" noRot="1" noChangeAspect="1" noTextEdit="1"/>
          </p:cNvSpPr>
          <p:nvPr>
            <p:ph type="sldImg"/>
          </p:nvPr>
        </p:nvSpPr>
        <p:spPr>
          <a:ln/>
        </p:spPr>
      </p:sp>
      <p:sp>
        <p:nvSpPr>
          <p:cNvPr id="52227" name="Notes Placeholder 2">
            <a:extLst>
              <a:ext uri="{FF2B5EF4-FFF2-40B4-BE49-F238E27FC236}">
                <a16:creationId xmlns:a16="http://schemas.microsoft.com/office/drawing/2014/main" id="{3721A092-30DF-3504-D266-60693C29C2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2228" name="Slide Number Placeholder 3">
            <a:extLst>
              <a:ext uri="{FF2B5EF4-FFF2-40B4-BE49-F238E27FC236}">
                <a16:creationId xmlns:a16="http://schemas.microsoft.com/office/drawing/2014/main" id="{6AB4A5B9-9BBA-F757-C6CE-3AF0BB4D0FE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rgbClr val="CC3300"/>
                </a:solidFill>
                <a:latin typeface="Tahoma" panose="020B0604030504040204" pitchFamily="34" charset="0"/>
                <a:cs typeface="Arial" panose="020B0604020202020204" pitchFamily="34" charset="0"/>
              </a:defRPr>
            </a:lvl1pPr>
            <a:lvl2pPr marL="742950" indent="-285750" eaLnBrk="0" hangingPunct="0">
              <a:defRPr sz="2800" b="1">
                <a:solidFill>
                  <a:srgbClr val="CC3300"/>
                </a:solidFill>
                <a:latin typeface="Tahoma" panose="020B0604030504040204" pitchFamily="34" charset="0"/>
                <a:cs typeface="Arial" panose="020B0604020202020204" pitchFamily="34" charset="0"/>
              </a:defRPr>
            </a:lvl2pPr>
            <a:lvl3pPr marL="1143000" indent="-228600" eaLnBrk="0" hangingPunct="0">
              <a:defRPr sz="2800" b="1">
                <a:solidFill>
                  <a:srgbClr val="CC3300"/>
                </a:solidFill>
                <a:latin typeface="Tahoma" panose="020B0604030504040204" pitchFamily="34" charset="0"/>
                <a:cs typeface="Arial" panose="020B0604020202020204" pitchFamily="34" charset="0"/>
              </a:defRPr>
            </a:lvl3pPr>
            <a:lvl4pPr marL="1600200" indent="-228600" eaLnBrk="0" hangingPunct="0">
              <a:defRPr sz="2800" b="1">
                <a:solidFill>
                  <a:srgbClr val="CC3300"/>
                </a:solidFill>
                <a:latin typeface="Tahoma" panose="020B0604030504040204" pitchFamily="34" charset="0"/>
                <a:cs typeface="Arial" panose="020B0604020202020204" pitchFamily="34" charset="0"/>
              </a:defRPr>
            </a:lvl4pPr>
            <a:lvl5pPr marL="2057400" indent="-228600" eaLnBrk="0" hangingPunct="0">
              <a:defRPr sz="2800" b="1">
                <a:solidFill>
                  <a:srgbClr val="CC3300"/>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b="1">
                <a:solidFill>
                  <a:srgbClr val="CC3300"/>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b="1">
                <a:solidFill>
                  <a:srgbClr val="CC3300"/>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b="1">
                <a:solidFill>
                  <a:srgbClr val="CC3300"/>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b="1">
                <a:solidFill>
                  <a:srgbClr val="CC3300"/>
                </a:solidFill>
                <a:latin typeface="Tahoma" panose="020B0604030504040204" pitchFamily="34" charset="0"/>
                <a:cs typeface="Arial" panose="020B0604020202020204" pitchFamily="34" charset="0"/>
              </a:defRPr>
            </a:lvl9pPr>
          </a:lstStyle>
          <a:p>
            <a:fld id="{77DC5116-815B-4C9A-A3AF-CA05C01A8CA3}" type="slidenum">
              <a:rPr lang="en-US" altLang="en-US" sz="1200" b="0">
                <a:solidFill>
                  <a:schemeClr val="tx1"/>
                </a:solidFill>
                <a:latin typeface="Times New Roman" panose="02020603050405020304" pitchFamily="18" charset="0"/>
              </a:rPr>
              <a:pPr/>
              <a:t>11</a:t>
            </a:fld>
            <a:endParaRPr lang="en-US" altLang="en-US" sz="1200" b="0">
              <a:solidFill>
                <a:schemeClr val="tx1"/>
              </a:solidFill>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12590-74D8-F31F-EA1E-5D359E8BCE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79AFD9C-4923-BD33-653A-A8B0142882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D6ACE4C-E968-4AA9-0567-D0976BA4F29C}"/>
              </a:ext>
            </a:extLst>
          </p:cNvPr>
          <p:cNvSpPr>
            <a:spLocks noGrp="1"/>
          </p:cNvSpPr>
          <p:nvPr>
            <p:ph type="dt" sz="half" idx="10"/>
          </p:nvPr>
        </p:nvSpPr>
        <p:spPr/>
        <p:txBody>
          <a:bodyPr/>
          <a:lstStyle/>
          <a:p>
            <a:fld id="{5A593C1C-6209-418A-90A5-8ED7164E38AD}" type="datetimeFigureOut">
              <a:rPr lang="en-IN" smtClean="0"/>
              <a:t>14-04-2026</a:t>
            </a:fld>
            <a:endParaRPr lang="en-IN"/>
          </a:p>
        </p:txBody>
      </p:sp>
      <p:sp>
        <p:nvSpPr>
          <p:cNvPr id="5" name="Footer Placeholder 4">
            <a:extLst>
              <a:ext uri="{FF2B5EF4-FFF2-40B4-BE49-F238E27FC236}">
                <a16:creationId xmlns:a16="http://schemas.microsoft.com/office/drawing/2014/main" id="{F316FF47-7E1A-5CDE-7A8C-DB854E7D34A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9ADCC32-336E-4C27-024D-799C0FD1D2F8}"/>
              </a:ext>
            </a:extLst>
          </p:cNvPr>
          <p:cNvSpPr>
            <a:spLocks noGrp="1"/>
          </p:cNvSpPr>
          <p:nvPr>
            <p:ph type="sldNum" sz="quarter" idx="12"/>
          </p:nvPr>
        </p:nvSpPr>
        <p:spPr/>
        <p:txBody>
          <a:bodyPr/>
          <a:lstStyle/>
          <a:p>
            <a:fld id="{FCF42724-41B5-4244-B440-CCDE81C4A9D6}" type="slidenum">
              <a:rPr lang="en-IN" smtClean="0"/>
              <a:t>‹#›</a:t>
            </a:fld>
            <a:endParaRPr lang="en-IN"/>
          </a:p>
        </p:txBody>
      </p:sp>
    </p:spTree>
    <p:extLst>
      <p:ext uri="{BB962C8B-B14F-4D97-AF65-F5344CB8AC3E}">
        <p14:creationId xmlns:p14="http://schemas.microsoft.com/office/powerpoint/2010/main" val="2562060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FB544-FB2C-1203-2CA3-B3736417C0CA}"/>
              </a:ext>
            </a:extLst>
          </p:cNvPr>
          <p:cNvSpPr>
            <a:spLocks noGrp="1"/>
          </p:cNvSpPr>
          <p:nvPr>
            <p:ph type="title"/>
          </p:nvPr>
        </p:nvSpPr>
        <p:spPr>
          <a:xfrm>
            <a:off x="838200" y="136525"/>
            <a:ext cx="10515600" cy="670461"/>
          </a:xfrm>
        </p:spPr>
        <p:txBody>
          <a:bodyPr/>
          <a:lstStyle>
            <a:lvl1pPr>
              <a:defRPr b="1">
                <a:solidFill>
                  <a:srgbClr val="7030A0"/>
                </a:solidFill>
                <a:latin typeface="Times New Roman" panose="02020603050405020304" pitchFamily="18" charset="0"/>
                <a:cs typeface="Times New Roman" panose="02020603050405020304" pitchFamily="18"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E569EEC-44A0-C321-49ED-45F9375274C4}"/>
              </a:ext>
            </a:extLst>
          </p:cNvPr>
          <p:cNvSpPr>
            <a:spLocks noGrp="1"/>
          </p:cNvSpPr>
          <p:nvPr>
            <p:ph idx="1"/>
          </p:nvPr>
        </p:nvSpPr>
        <p:spPr>
          <a:xfrm>
            <a:off x="838200" y="1101687"/>
            <a:ext cx="10515600" cy="507527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DBD2012F-580E-2358-6740-3D5BC342DCF9}"/>
              </a:ext>
            </a:extLst>
          </p:cNvPr>
          <p:cNvSpPr>
            <a:spLocks noGrp="1"/>
          </p:cNvSpPr>
          <p:nvPr>
            <p:ph type="dt" sz="half" idx="10"/>
          </p:nvPr>
        </p:nvSpPr>
        <p:spPr/>
        <p:txBody>
          <a:bodyPr/>
          <a:lstStyle/>
          <a:p>
            <a:fld id="{5A593C1C-6209-418A-90A5-8ED7164E38AD}" type="datetimeFigureOut">
              <a:rPr lang="en-IN" smtClean="0"/>
              <a:t>14-04-2026</a:t>
            </a:fld>
            <a:endParaRPr lang="en-IN"/>
          </a:p>
        </p:txBody>
      </p:sp>
      <p:sp>
        <p:nvSpPr>
          <p:cNvPr id="5" name="Footer Placeholder 4">
            <a:extLst>
              <a:ext uri="{FF2B5EF4-FFF2-40B4-BE49-F238E27FC236}">
                <a16:creationId xmlns:a16="http://schemas.microsoft.com/office/drawing/2014/main" id="{BC7D2854-7E95-6B0E-B3AB-949987A8A5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8D600D-2E34-5EBD-F9AE-2D6F3D6F8058}"/>
              </a:ext>
            </a:extLst>
          </p:cNvPr>
          <p:cNvSpPr>
            <a:spLocks noGrp="1"/>
          </p:cNvSpPr>
          <p:nvPr>
            <p:ph type="sldNum" sz="quarter" idx="12"/>
          </p:nvPr>
        </p:nvSpPr>
        <p:spPr/>
        <p:txBody>
          <a:bodyPr/>
          <a:lstStyle/>
          <a:p>
            <a:fld id="{FCF42724-41B5-4244-B440-CCDE81C4A9D6}" type="slidenum">
              <a:rPr lang="en-IN" smtClean="0"/>
              <a:t>‹#›</a:t>
            </a:fld>
            <a:endParaRPr lang="en-IN"/>
          </a:p>
        </p:txBody>
      </p:sp>
    </p:spTree>
    <p:extLst>
      <p:ext uri="{BB962C8B-B14F-4D97-AF65-F5344CB8AC3E}">
        <p14:creationId xmlns:p14="http://schemas.microsoft.com/office/powerpoint/2010/main" val="837676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4EBEA-9212-0F5E-B697-8E4E1E0ED0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BF38C72-A80A-30C3-1B93-97044D7295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B2F46E-3A82-6B92-D81A-73906BB94783}"/>
              </a:ext>
            </a:extLst>
          </p:cNvPr>
          <p:cNvSpPr>
            <a:spLocks noGrp="1"/>
          </p:cNvSpPr>
          <p:nvPr>
            <p:ph type="dt" sz="half" idx="10"/>
          </p:nvPr>
        </p:nvSpPr>
        <p:spPr/>
        <p:txBody>
          <a:bodyPr/>
          <a:lstStyle/>
          <a:p>
            <a:fld id="{5A593C1C-6209-418A-90A5-8ED7164E38AD}" type="datetimeFigureOut">
              <a:rPr lang="en-IN" smtClean="0"/>
              <a:t>14-04-2026</a:t>
            </a:fld>
            <a:endParaRPr lang="en-IN"/>
          </a:p>
        </p:txBody>
      </p:sp>
      <p:sp>
        <p:nvSpPr>
          <p:cNvPr id="5" name="Footer Placeholder 4">
            <a:extLst>
              <a:ext uri="{FF2B5EF4-FFF2-40B4-BE49-F238E27FC236}">
                <a16:creationId xmlns:a16="http://schemas.microsoft.com/office/drawing/2014/main" id="{593D3975-01D9-7F09-4C5F-6845A07C73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F16B79-99A0-A5B2-2B9B-681A228E58E8}"/>
              </a:ext>
            </a:extLst>
          </p:cNvPr>
          <p:cNvSpPr>
            <a:spLocks noGrp="1"/>
          </p:cNvSpPr>
          <p:nvPr>
            <p:ph type="sldNum" sz="quarter" idx="12"/>
          </p:nvPr>
        </p:nvSpPr>
        <p:spPr/>
        <p:txBody>
          <a:bodyPr/>
          <a:lstStyle/>
          <a:p>
            <a:fld id="{FCF42724-41B5-4244-B440-CCDE81C4A9D6}" type="slidenum">
              <a:rPr lang="en-IN" smtClean="0"/>
              <a:t>‹#›</a:t>
            </a:fld>
            <a:endParaRPr lang="en-IN"/>
          </a:p>
        </p:txBody>
      </p:sp>
    </p:spTree>
    <p:extLst>
      <p:ext uri="{BB962C8B-B14F-4D97-AF65-F5344CB8AC3E}">
        <p14:creationId xmlns:p14="http://schemas.microsoft.com/office/powerpoint/2010/main" val="896230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B85A9-2514-11BC-4650-E085B55F74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4CFAAB-7B8A-39A9-0874-74105392F6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464ECE2-FB3B-B237-6F51-5AD200B6A9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6D6134-F22E-F67E-8B89-34AA881ED6AF}"/>
              </a:ext>
            </a:extLst>
          </p:cNvPr>
          <p:cNvSpPr>
            <a:spLocks noGrp="1"/>
          </p:cNvSpPr>
          <p:nvPr>
            <p:ph type="dt" sz="half" idx="10"/>
          </p:nvPr>
        </p:nvSpPr>
        <p:spPr/>
        <p:txBody>
          <a:bodyPr/>
          <a:lstStyle/>
          <a:p>
            <a:fld id="{5A593C1C-6209-418A-90A5-8ED7164E38AD}" type="datetimeFigureOut">
              <a:rPr lang="en-IN" smtClean="0"/>
              <a:t>14-04-2026</a:t>
            </a:fld>
            <a:endParaRPr lang="en-IN"/>
          </a:p>
        </p:txBody>
      </p:sp>
      <p:sp>
        <p:nvSpPr>
          <p:cNvPr id="6" name="Footer Placeholder 5">
            <a:extLst>
              <a:ext uri="{FF2B5EF4-FFF2-40B4-BE49-F238E27FC236}">
                <a16:creationId xmlns:a16="http://schemas.microsoft.com/office/drawing/2014/main" id="{0E31AACC-7098-5D6C-3DF3-D09C0087D8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871757-776E-9F2B-3F0A-ADACBB17B068}"/>
              </a:ext>
            </a:extLst>
          </p:cNvPr>
          <p:cNvSpPr>
            <a:spLocks noGrp="1"/>
          </p:cNvSpPr>
          <p:nvPr>
            <p:ph type="sldNum" sz="quarter" idx="12"/>
          </p:nvPr>
        </p:nvSpPr>
        <p:spPr/>
        <p:txBody>
          <a:bodyPr/>
          <a:lstStyle/>
          <a:p>
            <a:fld id="{FCF42724-41B5-4244-B440-CCDE81C4A9D6}" type="slidenum">
              <a:rPr lang="en-IN" smtClean="0"/>
              <a:t>‹#›</a:t>
            </a:fld>
            <a:endParaRPr lang="en-IN"/>
          </a:p>
        </p:txBody>
      </p:sp>
    </p:spTree>
    <p:extLst>
      <p:ext uri="{BB962C8B-B14F-4D97-AF65-F5344CB8AC3E}">
        <p14:creationId xmlns:p14="http://schemas.microsoft.com/office/powerpoint/2010/main" val="4094343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EDCE0-FBEA-8404-9464-DF3345B603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C0151C-0FAF-C322-F227-7FB65E21EE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44A9D7-9F7D-2BC8-F69F-6E1E3057DE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7C61D95-0C9C-B538-7E20-C5FC775949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0544ED-B76E-C5C3-A89B-E36F62CD5C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B9F6FE-34FF-4BBD-4BFC-1967BE85EB6F}"/>
              </a:ext>
            </a:extLst>
          </p:cNvPr>
          <p:cNvSpPr>
            <a:spLocks noGrp="1"/>
          </p:cNvSpPr>
          <p:nvPr>
            <p:ph type="dt" sz="half" idx="10"/>
          </p:nvPr>
        </p:nvSpPr>
        <p:spPr/>
        <p:txBody>
          <a:bodyPr/>
          <a:lstStyle/>
          <a:p>
            <a:fld id="{5A593C1C-6209-418A-90A5-8ED7164E38AD}" type="datetimeFigureOut">
              <a:rPr lang="en-IN" smtClean="0"/>
              <a:t>14-04-2026</a:t>
            </a:fld>
            <a:endParaRPr lang="en-IN"/>
          </a:p>
        </p:txBody>
      </p:sp>
      <p:sp>
        <p:nvSpPr>
          <p:cNvPr id="8" name="Footer Placeholder 7">
            <a:extLst>
              <a:ext uri="{FF2B5EF4-FFF2-40B4-BE49-F238E27FC236}">
                <a16:creationId xmlns:a16="http://schemas.microsoft.com/office/drawing/2014/main" id="{F439519F-95C3-5629-2220-F9A472B0935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ACBDB56-BC38-88F3-3DFF-70782908058B}"/>
              </a:ext>
            </a:extLst>
          </p:cNvPr>
          <p:cNvSpPr>
            <a:spLocks noGrp="1"/>
          </p:cNvSpPr>
          <p:nvPr>
            <p:ph type="sldNum" sz="quarter" idx="12"/>
          </p:nvPr>
        </p:nvSpPr>
        <p:spPr/>
        <p:txBody>
          <a:bodyPr/>
          <a:lstStyle/>
          <a:p>
            <a:fld id="{FCF42724-41B5-4244-B440-CCDE81C4A9D6}" type="slidenum">
              <a:rPr lang="en-IN" smtClean="0"/>
              <a:t>‹#›</a:t>
            </a:fld>
            <a:endParaRPr lang="en-IN"/>
          </a:p>
        </p:txBody>
      </p:sp>
    </p:spTree>
    <p:extLst>
      <p:ext uri="{BB962C8B-B14F-4D97-AF65-F5344CB8AC3E}">
        <p14:creationId xmlns:p14="http://schemas.microsoft.com/office/powerpoint/2010/main" val="2181360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E250-ACB7-BEF2-267B-032E611187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BC456C7-0981-98FB-35C4-7E8A1606E558}"/>
              </a:ext>
            </a:extLst>
          </p:cNvPr>
          <p:cNvSpPr>
            <a:spLocks noGrp="1"/>
          </p:cNvSpPr>
          <p:nvPr>
            <p:ph type="dt" sz="half" idx="10"/>
          </p:nvPr>
        </p:nvSpPr>
        <p:spPr/>
        <p:txBody>
          <a:bodyPr/>
          <a:lstStyle/>
          <a:p>
            <a:fld id="{5A593C1C-6209-418A-90A5-8ED7164E38AD}" type="datetimeFigureOut">
              <a:rPr lang="en-IN" smtClean="0"/>
              <a:t>14-04-2026</a:t>
            </a:fld>
            <a:endParaRPr lang="en-IN"/>
          </a:p>
        </p:txBody>
      </p:sp>
      <p:sp>
        <p:nvSpPr>
          <p:cNvPr id="4" name="Footer Placeholder 3">
            <a:extLst>
              <a:ext uri="{FF2B5EF4-FFF2-40B4-BE49-F238E27FC236}">
                <a16:creationId xmlns:a16="http://schemas.microsoft.com/office/drawing/2014/main" id="{643AA5EC-5F60-F7F1-DC47-20547FD4659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5C7FF36-79BC-8F41-F490-D077F8B8705A}"/>
              </a:ext>
            </a:extLst>
          </p:cNvPr>
          <p:cNvSpPr>
            <a:spLocks noGrp="1"/>
          </p:cNvSpPr>
          <p:nvPr>
            <p:ph type="sldNum" sz="quarter" idx="12"/>
          </p:nvPr>
        </p:nvSpPr>
        <p:spPr/>
        <p:txBody>
          <a:bodyPr/>
          <a:lstStyle/>
          <a:p>
            <a:fld id="{FCF42724-41B5-4244-B440-CCDE81C4A9D6}" type="slidenum">
              <a:rPr lang="en-IN" smtClean="0"/>
              <a:t>‹#›</a:t>
            </a:fld>
            <a:endParaRPr lang="en-IN"/>
          </a:p>
        </p:txBody>
      </p:sp>
    </p:spTree>
    <p:extLst>
      <p:ext uri="{BB962C8B-B14F-4D97-AF65-F5344CB8AC3E}">
        <p14:creationId xmlns:p14="http://schemas.microsoft.com/office/powerpoint/2010/main" val="2887272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29478F-C69B-A0D6-50CF-7A9C01F82B72}"/>
              </a:ext>
            </a:extLst>
          </p:cNvPr>
          <p:cNvSpPr>
            <a:spLocks noGrp="1"/>
          </p:cNvSpPr>
          <p:nvPr>
            <p:ph type="dt" sz="half" idx="10"/>
          </p:nvPr>
        </p:nvSpPr>
        <p:spPr/>
        <p:txBody>
          <a:bodyPr/>
          <a:lstStyle/>
          <a:p>
            <a:fld id="{5A593C1C-6209-418A-90A5-8ED7164E38AD}" type="datetimeFigureOut">
              <a:rPr lang="en-IN" smtClean="0"/>
              <a:t>14-04-2026</a:t>
            </a:fld>
            <a:endParaRPr lang="en-IN"/>
          </a:p>
        </p:txBody>
      </p:sp>
      <p:sp>
        <p:nvSpPr>
          <p:cNvPr id="3" name="Footer Placeholder 2">
            <a:extLst>
              <a:ext uri="{FF2B5EF4-FFF2-40B4-BE49-F238E27FC236}">
                <a16:creationId xmlns:a16="http://schemas.microsoft.com/office/drawing/2014/main" id="{F8E99829-207F-43C0-8552-DFF080F474C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710C906-746F-6D2A-3BAE-52FA74EDF80B}"/>
              </a:ext>
            </a:extLst>
          </p:cNvPr>
          <p:cNvSpPr>
            <a:spLocks noGrp="1"/>
          </p:cNvSpPr>
          <p:nvPr>
            <p:ph type="sldNum" sz="quarter" idx="12"/>
          </p:nvPr>
        </p:nvSpPr>
        <p:spPr/>
        <p:txBody>
          <a:bodyPr/>
          <a:lstStyle/>
          <a:p>
            <a:fld id="{FCF42724-41B5-4244-B440-CCDE81C4A9D6}" type="slidenum">
              <a:rPr lang="en-IN" smtClean="0"/>
              <a:t>‹#›</a:t>
            </a:fld>
            <a:endParaRPr lang="en-IN"/>
          </a:p>
        </p:txBody>
      </p:sp>
    </p:spTree>
    <p:extLst>
      <p:ext uri="{BB962C8B-B14F-4D97-AF65-F5344CB8AC3E}">
        <p14:creationId xmlns:p14="http://schemas.microsoft.com/office/powerpoint/2010/main" val="1964984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1A4C6-4C63-720F-3D72-17F8E85873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318A46A-B76E-35AE-173F-7F9B459BCE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376B91-C084-FD0E-6D70-807E991F7B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D27E06-2903-9F6D-5283-ECF548C5E46D}"/>
              </a:ext>
            </a:extLst>
          </p:cNvPr>
          <p:cNvSpPr>
            <a:spLocks noGrp="1"/>
          </p:cNvSpPr>
          <p:nvPr>
            <p:ph type="dt" sz="half" idx="10"/>
          </p:nvPr>
        </p:nvSpPr>
        <p:spPr/>
        <p:txBody>
          <a:bodyPr/>
          <a:lstStyle/>
          <a:p>
            <a:fld id="{5A593C1C-6209-418A-90A5-8ED7164E38AD}" type="datetimeFigureOut">
              <a:rPr lang="en-IN" smtClean="0"/>
              <a:t>14-04-2026</a:t>
            </a:fld>
            <a:endParaRPr lang="en-IN"/>
          </a:p>
        </p:txBody>
      </p:sp>
      <p:sp>
        <p:nvSpPr>
          <p:cNvPr id="6" name="Footer Placeholder 5">
            <a:extLst>
              <a:ext uri="{FF2B5EF4-FFF2-40B4-BE49-F238E27FC236}">
                <a16:creationId xmlns:a16="http://schemas.microsoft.com/office/drawing/2014/main" id="{D3CDDF1B-3BE3-200D-BF90-DE803C6334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8BC5FF-383B-93AF-F844-CA4DA3AD5AFF}"/>
              </a:ext>
            </a:extLst>
          </p:cNvPr>
          <p:cNvSpPr>
            <a:spLocks noGrp="1"/>
          </p:cNvSpPr>
          <p:nvPr>
            <p:ph type="sldNum" sz="quarter" idx="12"/>
          </p:nvPr>
        </p:nvSpPr>
        <p:spPr/>
        <p:txBody>
          <a:bodyPr/>
          <a:lstStyle/>
          <a:p>
            <a:fld id="{FCF42724-41B5-4244-B440-CCDE81C4A9D6}" type="slidenum">
              <a:rPr lang="en-IN" smtClean="0"/>
              <a:t>‹#›</a:t>
            </a:fld>
            <a:endParaRPr lang="en-IN"/>
          </a:p>
        </p:txBody>
      </p:sp>
    </p:spTree>
    <p:extLst>
      <p:ext uri="{BB962C8B-B14F-4D97-AF65-F5344CB8AC3E}">
        <p14:creationId xmlns:p14="http://schemas.microsoft.com/office/powerpoint/2010/main" val="3551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16907-6B97-82E8-827E-5EC08E32F3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DB65B85-B82A-D8FB-5381-7FC947DE50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1AD6BBF-5DFF-6AAD-FA0E-1E63757822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14BC3D-8D6B-E9F4-0DE4-1BA562EACC5F}"/>
              </a:ext>
            </a:extLst>
          </p:cNvPr>
          <p:cNvSpPr>
            <a:spLocks noGrp="1"/>
          </p:cNvSpPr>
          <p:nvPr>
            <p:ph type="dt" sz="half" idx="10"/>
          </p:nvPr>
        </p:nvSpPr>
        <p:spPr/>
        <p:txBody>
          <a:bodyPr/>
          <a:lstStyle/>
          <a:p>
            <a:fld id="{5A593C1C-6209-418A-90A5-8ED7164E38AD}" type="datetimeFigureOut">
              <a:rPr lang="en-IN" smtClean="0"/>
              <a:t>14-04-2026</a:t>
            </a:fld>
            <a:endParaRPr lang="en-IN"/>
          </a:p>
        </p:txBody>
      </p:sp>
      <p:sp>
        <p:nvSpPr>
          <p:cNvPr id="6" name="Footer Placeholder 5">
            <a:extLst>
              <a:ext uri="{FF2B5EF4-FFF2-40B4-BE49-F238E27FC236}">
                <a16:creationId xmlns:a16="http://schemas.microsoft.com/office/drawing/2014/main" id="{AC80C283-5662-C90E-5B39-743AEE9266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BECF24-8AAA-DF6F-0144-CCAA59FB189D}"/>
              </a:ext>
            </a:extLst>
          </p:cNvPr>
          <p:cNvSpPr>
            <a:spLocks noGrp="1"/>
          </p:cNvSpPr>
          <p:nvPr>
            <p:ph type="sldNum" sz="quarter" idx="12"/>
          </p:nvPr>
        </p:nvSpPr>
        <p:spPr/>
        <p:txBody>
          <a:bodyPr/>
          <a:lstStyle/>
          <a:p>
            <a:fld id="{FCF42724-41B5-4244-B440-CCDE81C4A9D6}" type="slidenum">
              <a:rPr lang="en-IN" smtClean="0"/>
              <a:t>‹#›</a:t>
            </a:fld>
            <a:endParaRPr lang="en-IN"/>
          </a:p>
        </p:txBody>
      </p:sp>
    </p:spTree>
    <p:extLst>
      <p:ext uri="{BB962C8B-B14F-4D97-AF65-F5344CB8AC3E}">
        <p14:creationId xmlns:p14="http://schemas.microsoft.com/office/powerpoint/2010/main" val="2945576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F141C-02A1-0766-E7CB-26842E5CC6C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240CD2-011A-3880-92B3-3615D543A4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521D55-8D11-E6C8-73E3-D53D7E4D29E4}"/>
              </a:ext>
            </a:extLst>
          </p:cNvPr>
          <p:cNvSpPr>
            <a:spLocks noGrp="1"/>
          </p:cNvSpPr>
          <p:nvPr>
            <p:ph type="dt" sz="half" idx="10"/>
          </p:nvPr>
        </p:nvSpPr>
        <p:spPr/>
        <p:txBody>
          <a:bodyPr/>
          <a:lstStyle/>
          <a:p>
            <a:fld id="{5A593C1C-6209-418A-90A5-8ED7164E38AD}" type="datetimeFigureOut">
              <a:rPr lang="en-IN" smtClean="0"/>
              <a:t>14-04-2026</a:t>
            </a:fld>
            <a:endParaRPr lang="en-IN"/>
          </a:p>
        </p:txBody>
      </p:sp>
      <p:sp>
        <p:nvSpPr>
          <p:cNvPr id="5" name="Footer Placeholder 4">
            <a:extLst>
              <a:ext uri="{FF2B5EF4-FFF2-40B4-BE49-F238E27FC236}">
                <a16:creationId xmlns:a16="http://schemas.microsoft.com/office/drawing/2014/main" id="{FB97C564-24CE-EA6E-372E-C60444715D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839154-D4AE-8EC6-D42C-0C6B996C4CF0}"/>
              </a:ext>
            </a:extLst>
          </p:cNvPr>
          <p:cNvSpPr>
            <a:spLocks noGrp="1"/>
          </p:cNvSpPr>
          <p:nvPr>
            <p:ph type="sldNum" sz="quarter" idx="12"/>
          </p:nvPr>
        </p:nvSpPr>
        <p:spPr/>
        <p:txBody>
          <a:bodyPr/>
          <a:lstStyle/>
          <a:p>
            <a:fld id="{FCF42724-41B5-4244-B440-CCDE81C4A9D6}" type="slidenum">
              <a:rPr lang="en-IN" smtClean="0"/>
              <a:t>‹#›</a:t>
            </a:fld>
            <a:endParaRPr lang="en-IN"/>
          </a:p>
        </p:txBody>
      </p:sp>
    </p:spTree>
    <p:extLst>
      <p:ext uri="{BB962C8B-B14F-4D97-AF65-F5344CB8AC3E}">
        <p14:creationId xmlns:p14="http://schemas.microsoft.com/office/powerpoint/2010/main" val="315616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22FBEA-AC52-812D-465F-1A9FE6A4E8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00E588-88A4-150C-82FF-5292B6BBDF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4530C9-80F8-C9E5-EA20-E4925F0B4C91}"/>
              </a:ext>
            </a:extLst>
          </p:cNvPr>
          <p:cNvSpPr>
            <a:spLocks noGrp="1"/>
          </p:cNvSpPr>
          <p:nvPr>
            <p:ph type="dt" sz="half" idx="10"/>
          </p:nvPr>
        </p:nvSpPr>
        <p:spPr/>
        <p:txBody>
          <a:bodyPr/>
          <a:lstStyle/>
          <a:p>
            <a:fld id="{5A593C1C-6209-418A-90A5-8ED7164E38AD}" type="datetimeFigureOut">
              <a:rPr lang="en-IN" smtClean="0"/>
              <a:t>14-04-2026</a:t>
            </a:fld>
            <a:endParaRPr lang="en-IN"/>
          </a:p>
        </p:txBody>
      </p:sp>
      <p:sp>
        <p:nvSpPr>
          <p:cNvPr id="5" name="Footer Placeholder 4">
            <a:extLst>
              <a:ext uri="{FF2B5EF4-FFF2-40B4-BE49-F238E27FC236}">
                <a16:creationId xmlns:a16="http://schemas.microsoft.com/office/drawing/2014/main" id="{76A542F0-31F4-00A0-FFD3-46B9BF0813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82148E-80D9-7008-7859-3DC882DB3B71}"/>
              </a:ext>
            </a:extLst>
          </p:cNvPr>
          <p:cNvSpPr>
            <a:spLocks noGrp="1"/>
          </p:cNvSpPr>
          <p:nvPr>
            <p:ph type="sldNum" sz="quarter" idx="12"/>
          </p:nvPr>
        </p:nvSpPr>
        <p:spPr/>
        <p:txBody>
          <a:bodyPr/>
          <a:lstStyle/>
          <a:p>
            <a:fld id="{FCF42724-41B5-4244-B440-CCDE81C4A9D6}" type="slidenum">
              <a:rPr lang="en-IN" smtClean="0"/>
              <a:t>‹#›</a:t>
            </a:fld>
            <a:endParaRPr lang="en-IN"/>
          </a:p>
        </p:txBody>
      </p:sp>
    </p:spTree>
    <p:extLst>
      <p:ext uri="{BB962C8B-B14F-4D97-AF65-F5344CB8AC3E}">
        <p14:creationId xmlns:p14="http://schemas.microsoft.com/office/powerpoint/2010/main" val="460750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AEDEB-75FD-CDEA-ED54-84EBD5354C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A06D0E-626E-83AD-4644-8559150730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CAF2F5-35A3-AB1C-D676-4D3B7D8F9D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593C1C-6209-418A-90A5-8ED7164E38AD}" type="datetimeFigureOut">
              <a:rPr lang="en-IN" smtClean="0"/>
              <a:t>14-04-2026</a:t>
            </a:fld>
            <a:endParaRPr lang="en-IN"/>
          </a:p>
        </p:txBody>
      </p:sp>
      <p:sp>
        <p:nvSpPr>
          <p:cNvPr id="5" name="Footer Placeholder 4">
            <a:extLst>
              <a:ext uri="{FF2B5EF4-FFF2-40B4-BE49-F238E27FC236}">
                <a16:creationId xmlns:a16="http://schemas.microsoft.com/office/drawing/2014/main" id="{57C9853E-A415-13CA-9591-FEC4C0CF00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8A433D8-75E9-F16A-F528-BED75F6CA7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F42724-41B5-4244-B440-CCDE81C4A9D6}" type="slidenum">
              <a:rPr lang="en-IN" smtClean="0"/>
              <a:t>‹#›</a:t>
            </a:fld>
            <a:endParaRPr lang="en-IN"/>
          </a:p>
        </p:txBody>
      </p:sp>
      <p:pic>
        <p:nvPicPr>
          <p:cNvPr id="8" name="Picture 7">
            <a:extLst>
              <a:ext uri="{FF2B5EF4-FFF2-40B4-BE49-F238E27FC236}">
                <a16:creationId xmlns:a16="http://schemas.microsoft.com/office/drawing/2014/main" id="{2F4B6919-7AC9-C639-B2C8-F76EDBAD6C29}"/>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838200" y="6176963"/>
            <a:ext cx="10515599" cy="594431"/>
          </a:xfrm>
          <a:prstGeom prst="rect">
            <a:avLst/>
          </a:prstGeom>
        </p:spPr>
      </p:pic>
    </p:spTree>
    <p:extLst>
      <p:ext uri="{BB962C8B-B14F-4D97-AF65-F5344CB8AC3E}">
        <p14:creationId xmlns:p14="http://schemas.microsoft.com/office/powerpoint/2010/main" val="3836887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87F1735D-35B1-76CE-D718-BE401D82EBBB}"/>
              </a:ext>
            </a:extLst>
          </p:cNvPr>
          <p:cNvSpPr>
            <a:spLocks noGrp="1"/>
          </p:cNvSpPr>
          <p:nvPr>
            <p:ph type="subTitle" idx="1"/>
          </p:nvPr>
        </p:nvSpPr>
        <p:spPr>
          <a:xfrm>
            <a:off x="2260598" y="2381826"/>
            <a:ext cx="6858000" cy="885121"/>
          </a:xfrm>
        </p:spPr>
        <p:txBody>
          <a:bodyPr/>
          <a:lstStyle/>
          <a:p>
            <a:r>
              <a:rPr lang="en-US" b="1" dirty="0">
                <a:latin typeface="Times New Roman" panose="02020603050405020304" pitchFamily="18" charset="0"/>
                <a:cs typeface="Times New Roman" panose="02020603050405020304" pitchFamily="18" charset="0"/>
              </a:rPr>
              <a:t>Course Code: 23BTDSL211</a:t>
            </a:r>
          </a:p>
          <a:p>
            <a:r>
              <a:rPr lang="en-US" b="1" dirty="0">
                <a:latin typeface="Times New Roman" panose="02020603050405020304" pitchFamily="18" charset="0"/>
                <a:cs typeface="Times New Roman" panose="02020603050405020304" pitchFamily="18" charset="0"/>
              </a:rPr>
              <a:t>B. Tech – MD II      Semester: IV</a:t>
            </a:r>
          </a:p>
          <a:p>
            <a:endParaRPr lang="en-US" dirty="0">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8CA222C1-7486-CAAE-578C-6F9E11900FC4}"/>
              </a:ext>
            </a:extLst>
          </p:cNvPr>
          <p:cNvSpPr txBox="1">
            <a:spLocks/>
          </p:cNvSpPr>
          <p:nvPr/>
        </p:nvSpPr>
        <p:spPr>
          <a:xfrm>
            <a:off x="2260598" y="3599265"/>
            <a:ext cx="7447175" cy="188956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dirty="0">
                <a:latin typeface="Times New Roman" panose="02020603050405020304" pitchFamily="18" charset="0"/>
                <a:ea typeface="+mj-ea"/>
                <a:cs typeface="Times New Roman" panose="02020603050405020304" pitchFamily="18" charset="0"/>
              </a:rPr>
              <a:t>Prepared by:</a:t>
            </a:r>
          </a:p>
          <a:p>
            <a:r>
              <a:rPr lang="en-US" sz="2000" b="1" i="1" dirty="0">
                <a:latin typeface="Times New Roman" panose="02020603050405020304" pitchFamily="18" charset="0"/>
                <a:ea typeface="+mj-ea"/>
                <a:cs typeface="Times New Roman" panose="02020603050405020304" pitchFamily="18" charset="0"/>
              </a:rPr>
              <a:t>Prof. Pragati Agrawal</a:t>
            </a:r>
          </a:p>
          <a:p>
            <a:r>
              <a:rPr lang="en-US" sz="2000" b="1" i="1" dirty="0">
                <a:latin typeface="Times New Roman" panose="02020603050405020304" pitchFamily="18" charset="0"/>
                <a:cs typeface="Times New Roman" panose="02020603050405020304" pitchFamily="18" charset="0"/>
              </a:rPr>
              <a:t>Designation : Assistant Professor</a:t>
            </a:r>
          </a:p>
          <a:p>
            <a:r>
              <a:rPr lang="en-US" sz="2000" b="1" dirty="0">
                <a:latin typeface="Times New Roman" panose="02020603050405020304" pitchFamily="18" charset="0"/>
                <a:cs typeface="Times New Roman" panose="02020603050405020304" pitchFamily="18" charset="0"/>
              </a:rPr>
              <a:t>Department of  Data Science</a:t>
            </a:r>
          </a:p>
          <a:p>
            <a:r>
              <a:rPr lang="en-US" sz="2000" b="1" dirty="0">
                <a:latin typeface="Times New Roman" panose="02020603050405020304" pitchFamily="18" charset="0"/>
                <a:cs typeface="Times New Roman" panose="02020603050405020304" pitchFamily="18" charset="0"/>
              </a:rPr>
              <a:t>G.H. </a:t>
            </a:r>
            <a:r>
              <a:rPr lang="en-US" sz="2000" b="1" dirty="0" err="1">
                <a:latin typeface="Times New Roman" panose="02020603050405020304" pitchFamily="18" charset="0"/>
                <a:cs typeface="Times New Roman" panose="02020603050405020304" pitchFamily="18" charset="0"/>
              </a:rPr>
              <a:t>Raisoni</a:t>
            </a:r>
            <a:r>
              <a:rPr lang="en-US" sz="2000" b="1" dirty="0">
                <a:latin typeface="Times New Roman" panose="02020603050405020304" pitchFamily="18" charset="0"/>
                <a:cs typeface="Times New Roman" panose="02020603050405020304" pitchFamily="18" charset="0"/>
              </a:rPr>
              <a:t> College of Engineering and Management, Nagpur</a:t>
            </a:r>
          </a:p>
        </p:txBody>
      </p:sp>
      <p:sp>
        <p:nvSpPr>
          <p:cNvPr id="11" name="Title 1">
            <a:extLst>
              <a:ext uri="{FF2B5EF4-FFF2-40B4-BE49-F238E27FC236}">
                <a16:creationId xmlns:a16="http://schemas.microsoft.com/office/drawing/2014/main" id="{8718D6A6-A08C-9B29-4F0E-A9A159E3596F}"/>
              </a:ext>
            </a:extLst>
          </p:cNvPr>
          <p:cNvSpPr txBox="1"/>
          <p:nvPr/>
        </p:nvSpPr>
        <p:spPr>
          <a:xfrm>
            <a:off x="1208631" y="733876"/>
            <a:ext cx="9573669" cy="1409700"/>
          </a:xfrm>
          <a:prstGeom prst="rect">
            <a:avLst/>
          </a:prstGeom>
          <a:solidFill>
            <a:srgbClr val="7030A0"/>
          </a:solidFill>
          <a:ln>
            <a:noFill/>
          </a:ln>
        </p:spPr>
        <p:txBody>
          <a:bodyPr vert="horz" lIns="68580" tIns="34290" rIns="68580" bIns="34290" rtlCol="0" anchor="ctr">
            <a:noAutofit/>
          </a:bodyPr>
          <a:lstStyle>
            <a:lvl1pPr algn="ctr" defTabSz="914400" rtl="0" eaLnBrk="1" latinLnBrk="0" hangingPunct="1">
              <a:lnSpc>
                <a:spcPct val="90000"/>
              </a:lnSpc>
              <a:spcBef>
                <a:spcPct val="0"/>
              </a:spcBef>
              <a:buNone/>
              <a:defRPr sz="3600" b="0" kern="1200">
                <a:solidFill>
                  <a:schemeClr val="bg1"/>
                </a:solidFill>
                <a:effectLst>
                  <a:outerShdw blurRad="38100" dist="38100" dir="2700000" algn="tl">
                    <a:srgbClr val="000000">
                      <a:alpha val="43137"/>
                    </a:srgbClr>
                  </a:outerShdw>
                </a:effectLst>
                <a:latin typeface="+mj-lt"/>
                <a:ea typeface="Open Sans" pitchFamily="34" charset="0"/>
                <a:cs typeface="Open Sans" pitchFamily="34" charset="0"/>
              </a:defRPr>
            </a:lvl1pPr>
          </a:lstStyle>
          <a:p>
            <a:pPr fontAlgn="base">
              <a:lnSpc>
                <a:spcPct val="100000"/>
              </a:lnSpc>
              <a:spcAft>
                <a:spcPct val="0"/>
              </a:spcAft>
            </a:pPr>
            <a:r>
              <a:rPr lang="en-US" sz="4000" b="1" dirty="0">
                <a:solidFill>
                  <a:prstClr val="white"/>
                </a:solidFill>
                <a:latin typeface="Arial Black" panose="020B0A04020102020204" pitchFamily="34" charset="0"/>
                <a:ea typeface="Adobe Heiti Std R" panose="020B0400000000000000" pitchFamily="34" charset="-128"/>
              </a:rPr>
              <a:t>Data Analytics with Tableau</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82300" y="29026"/>
            <a:ext cx="1409700" cy="1409700"/>
          </a:xfrm>
          <a:prstGeom prst="rect">
            <a:avLst/>
          </a:prstGeom>
        </p:spPr>
      </p:pic>
      <p:pic>
        <p:nvPicPr>
          <p:cNvPr id="4" name="Picture 3">
            <a:extLst>
              <a:ext uri="{FF2B5EF4-FFF2-40B4-BE49-F238E27FC236}">
                <a16:creationId xmlns:a16="http://schemas.microsoft.com/office/drawing/2014/main" id="{CBF9D371-4987-9AD7-5B44-3E7A3F56D100}"/>
              </a:ext>
            </a:extLst>
          </p:cNvPr>
          <p:cNvPicPr>
            <a:picLocks noChangeAspect="1"/>
          </p:cNvPicPr>
          <p:nvPr/>
        </p:nvPicPr>
        <p:blipFill>
          <a:blip r:embed="rId3"/>
          <a:stretch>
            <a:fillRect/>
          </a:stretch>
        </p:blipFill>
        <p:spPr>
          <a:xfrm>
            <a:off x="642258" y="5954485"/>
            <a:ext cx="8956658" cy="590567"/>
          </a:xfrm>
          <a:prstGeom prst="rect">
            <a:avLst/>
          </a:prstGeom>
        </p:spPr>
      </p:pic>
    </p:spTree>
    <p:extLst>
      <p:ext uri="{BB962C8B-B14F-4D97-AF65-F5344CB8AC3E}">
        <p14:creationId xmlns:p14="http://schemas.microsoft.com/office/powerpoint/2010/main" val="1019789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B4522-9E3A-02C3-6B9A-AE846BA6B51D}"/>
              </a:ext>
            </a:extLst>
          </p:cNvPr>
          <p:cNvSpPr>
            <a:spLocks noGrp="1"/>
          </p:cNvSpPr>
          <p:nvPr>
            <p:ph type="title"/>
          </p:nvPr>
        </p:nvSpPr>
        <p:spPr/>
        <p:txBody>
          <a:bodyPr>
            <a:normAutofit fontScale="90000"/>
          </a:bodyPr>
          <a:lstStyle/>
          <a:p>
            <a:r>
              <a:rPr lang="en-IN" dirty="0">
                <a:solidFill>
                  <a:srgbClr val="7030A0"/>
                </a:solidFill>
              </a:rPr>
              <a:t>Teaching and Evaluation Scheme</a:t>
            </a:r>
          </a:p>
        </p:txBody>
      </p:sp>
      <p:graphicFrame>
        <p:nvGraphicFramePr>
          <p:cNvPr id="6" name="Table 5">
            <a:extLst>
              <a:ext uri="{FF2B5EF4-FFF2-40B4-BE49-F238E27FC236}">
                <a16:creationId xmlns:a16="http://schemas.microsoft.com/office/drawing/2014/main" id="{53A8A4E3-C0F1-E887-6976-9EAF0F1CB699}"/>
              </a:ext>
            </a:extLst>
          </p:cNvPr>
          <p:cNvGraphicFramePr>
            <a:graphicFrameLocks noGrp="1"/>
          </p:cNvGraphicFramePr>
          <p:nvPr>
            <p:extLst>
              <p:ext uri="{D42A27DB-BD31-4B8C-83A1-F6EECF244321}">
                <p14:modId xmlns:p14="http://schemas.microsoft.com/office/powerpoint/2010/main" val="3142021886"/>
              </p:ext>
            </p:extLst>
          </p:nvPr>
        </p:nvGraphicFramePr>
        <p:xfrm>
          <a:off x="1132114" y="1081575"/>
          <a:ext cx="9481457" cy="4383054"/>
        </p:xfrm>
        <a:graphic>
          <a:graphicData uri="http://schemas.openxmlformats.org/drawingml/2006/table">
            <a:tbl>
              <a:tblPr firstRow="1" firstCol="1" bandRow="1">
                <a:tableStyleId>{5C22544A-7EE6-4342-B048-85BDC9FD1C3A}</a:tableStyleId>
              </a:tblPr>
              <a:tblGrid>
                <a:gridCol w="1305037">
                  <a:extLst>
                    <a:ext uri="{9D8B030D-6E8A-4147-A177-3AD203B41FA5}">
                      <a16:colId xmlns:a16="http://schemas.microsoft.com/office/drawing/2014/main" val="2905530684"/>
                    </a:ext>
                  </a:extLst>
                </a:gridCol>
                <a:gridCol w="1188126">
                  <a:extLst>
                    <a:ext uri="{9D8B030D-6E8A-4147-A177-3AD203B41FA5}">
                      <a16:colId xmlns:a16="http://schemas.microsoft.com/office/drawing/2014/main" val="887955171"/>
                    </a:ext>
                  </a:extLst>
                </a:gridCol>
                <a:gridCol w="641644">
                  <a:extLst>
                    <a:ext uri="{9D8B030D-6E8A-4147-A177-3AD203B41FA5}">
                      <a16:colId xmlns:a16="http://schemas.microsoft.com/office/drawing/2014/main" val="3362584311"/>
                    </a:ext>
                  </a:extLst>
                </a:gridCol>
                <a:gridCol w="643455">
                  <a:extLst>
                    <a:ext uri="{9D8B030D-6E8A-4147-A177-3AD203B41FA5}">
                      <a16:colId xmlns:a16="http://schemas.microsoft.com/office/drawing/2014/main" val="1718544763"/>
                    </a:ext>
                  </a:extLst>
                </a:gridCol>
                <a:gridCol w="559172">
                  <a:extLst>
                    <a:ext uri="{9D8B030D-6E8A-4147-A177-3AD203B41FA5}">
                      <a16:colId xmlns:a16="http://schemas.microsoft.com/office/drawing/2014/main" val="3035282649"/>
                    </a:ext>
                  </a:extLst>
                </a:gridCol>
                <a:gridCol w="957027">
                  <a:extLst>
                    <a:ext uri="{9D8B030D-6E8A-4147-A177-3AD203B41FA5}">
                      <a16:colId xmlns:a16="http://schemas.microsoft.com/office/drawing/2014/main" val="3847118750"/>
                    </a:ext>
                  </a:extLst>
                </a:gridCol>
                <a:gridCol w="706896">
                  <a:extLst>
                    <a:ext uri="{9D8B030D-6E8A-4147-A177-3AD203B41FA5}">
                      <a16:colId xmlns:a16="http://schemas.microsoft.com/office/drawing/2014/main" val="167162823"/>
                    </a:ext>
                  </a:extLst>
                </a:gridCol>
                <a:gridCol w="711426">
                  <a:extLst>
                    <a:ext uri="{9D8B030D-6E8A-4147-A177-3AD203B41FA5}">
                      <a16:colId xmlns:a16="http://schemas.microsoft.com/office/drawing/2014/main" val="2188133816"/>
                    </a:ext>
                  </a:extLst>
                </a:gridCol>
                <a:gridCol w="865494">
                  <a:extLst>
                    <a:ext uri="{9D8B030D-6E8A-4147-A177-3AD203B41FA5}">
                      <a16:colId xmlns:a16="http://schemas.microsoft.com/office/drawing/2014/main" val="3553233325"/>
                    </a:ext>
                  </a:extLst>
                </a:gridCol>
                <a:gridCol w="815648">
                  <a:extLst>
                    <a:ext uri="{9D8B030D-6E8A-4147-A177-3AD203B41FA5}">
                      <a16:colId xmlns:a16="http://schemas.microsoft.com/office/drawing/2014/main" val="2897588102"/>
                    </a:ext>
                  </a:extLst>
                </a:gridCol>
                <a:gridCol w="1087532">
                  <a:extLst>
                    <a:ext uri="{9D8B030D-6E8A-4147-A177-3AD203B41FA5}">
                      <a16:colId xmlns:a16="http://schemas.microsoft.com/office/drawing/2014/main" val="951418476"/>
                    </a:ext>
                  </a:extLst>
                </a:gridCol>
              </a:tblGrid>
              <a:tr h="330248">
                <a:tc gridSpan="11">
                  <a:txBody>
                    <a:bodyPr/>
                    <a:lstStyle/>
                    <a:p>
                      <a:pPr indent="-6350">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Course Title: Data Analytics with Tableau (23BTDSL211) – Multi Disciplinary Minor - II</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06276182"/>
                  </a:ext>
                </a:extLst>
              </a:tr>
              <a:tr h="330248">
                <a:tc rowSpan="2">
                  <a:txBody>
                    <a:bodyPr/>
                    <a:lstStyle/>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Semester </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tc rowSpan="2">
                  <a:txBody>
                    <a:bodyPr/>
                    <a:lstStyle/>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IV</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tc rowSpan="2" gridSpan="4">
                  <a:txBody>
                    <a:bodyPr/>
                    <a:lstStyle/>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Teaching Scheme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tc rowSpan="2" hMerge="1">
                  <a:txBody>
                    <a:bodyPr/>
                    <a:lstStyle/>
                    <a:p>
                      <a:endParaRPr lang="en-IN"/>
                    </a:p>
                  </a:txBody>
                  <a:tcPr/>
                </a:tc>
                <a:tc rowSpan="2" hMerge="1">
                  <a:txBody>
                    <a:bodyPr/>
                    <a:lstStyle/>
                    <a:p>
                      <a:endParaRPr lang="en-IN"/>
                    </a:p>
                  </a:txBody>
                  <a:tcPr/>
                </a:tc>
                <a:tc rowSpan="2" hMerge="1">
                  <a:txBody>
                    <a:bodyPr/>
                    <a:lstStyle/>
                    <a:p>
                      <a:endParaRPr lang="en-IN"/>
                    </a:p>
                  </a:txBody>
                  <a:tcPr/>
                </a:tc>
                <a:tc gridSpan="5">
                  <a:txBody>
                    <a:bodyPr/>
                    <a:lstStyle/>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Evaluation Scheme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59456216"/>
                  </a:ext>
                </a:extLst>
              </a:tr>
              <a:tr h="330248">
                <a:tc vMerge="1">
                  <a:txBody>
                    <a:bodyPr/>
                    <a:lstStyle/>
                    <a:p>
                      <a:endParaRPr lang="en-IN"/>
                    </a:p>
                  </a:txBody>
                  <a:tcPr/>
                </a:tc>
                <a:tc vMerge="1">
                  <a:txBody>
                    <a:bodyPr/>
                    <a:lstStyle/>
                    <a:p>
                      <a:endParaRPr lang="en-IN"/>
                    </a:p>
                  </a:txBody>
                  <a:tcPr/>
                </a:tc>
                <a:tc gridSpan="4"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gridSpan="3">
                  <a:txBody>
                    <a:bodyPr/>
                    <a:lstStyle/>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Theory </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hMerge="1">
                  <a:txBody>
                    <a:bodyPr/>
                    <a:lstStyle/>
                    <a:p>
                      <a:endParaRPr lang="en-IN"/>
                    </a:p>
                  </a:txBody>
                  <a:tcPr/>
                </a:tc>
                <a:tc hMerge="1">
                  <a:txBody>
                    <a:bodyPr/>
                    <a:lstStyle/>
                    <a:p>
                      <a:endParaRPr lang="en-IN"/>
                    </a:p>
                  </a:txBody>
                  <a:tcPr/>
                </a:tc>
                <a:tc gridSpan="2">
                  <a:txBody>
                    <a:bodyPr/>
                    <a:lstStyle/>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Practical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hMerge="1">
                  <a:txBody>
                    <a:bodyPr/>
                    <a:lstStyle/>
                    <a:p>
                      <a:endParaRPr lang="en-IN"/>
                    </a:p>
                  </a:txBody>
                  <a:tcPr/>
                </a:tc>
                <a:extLst>
                  <a:ext uri="{0D108BD9-81ED-4DB2-BD59-A6C34878D82A}">
                    <a16:rowId xmlns:a16="http://schemas.microsoft.com/office/drawing/2014/main" val="2248834548"/>
                  </a:ext>
                </a:extLst>
              </a:tr>
              <a:tr h="682738">
                <a:tc>
                  <a:txBody>
                    <a:bodyPr/>
                    <a:lstStyle/>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Term </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tc>
                  <a:txBody>
                    <a:bodyPr/>
                    <a:lstStyle/>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EVEN </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tc>
                  <a:txBody>
                    <a:bodyPr/>
                    <a:lstStyle/>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Th </a:t>
                      </a:r>
                    </a:p>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 </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a:txBody>
                    <a:bodyPr/>
                    <a:lstStyle/>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Tu </a:t>
                      </a:r>
                    </a:p>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a:txBody>
                    <a:bodyPr/>
                    <a:lstStyle/>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Pr </a:t>
                      </a:r>
                    </a:p>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a:txBody>
                    <a:bodyPr/>
                    <a:lstStyle/>
                    <a:p>
                      <a:pPr marL="46990" indent="-6350">
                        <a:lnSpc>
                          <a:spcPct val="115000"/>
                        </a:lnSpc>
                        <a:spcAft>
                          <a:spcPts val="20"/>
                        </a:spcAft>
                        <a:buNone/>
                      </a:pPr>
                      <a:r>
                        <a:rPr lang="en-IN" sz="1600">
                          <a:effectLst/>
                          <a:latin typeface="Times New Roman" panose="02020603050405020304" pitchFamily="18" charset="0"/>
                          <a:cs typeface="Times New Roman" panose="02020603050405020304" pitchFamily="18" charset="0"/>
                        </a:rPr>
                        <a:t>Credits </a:t>
                      </a:r>
                    </a:p>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a:txBody>
                    <a:bodyPr/>
                    <a:lstStyle/>
                    <a:p>
                      <a:pPr marL="31750" indent="-6350">
                        <a:lnSpc>
                          <a:spcPct val="115000"/>
                        </a:lnSpc>
                        <a:spcAft>
                          <a:spcPts val="20"/>
                        </a:spcAft>
                        <a:buNone/>
                      </a:pPr>
                      <a:r>
                        <a:rPr lang="en-IN" sz="1600">
                          <a:effectLst/>
                          <a:latin typeface="Times New Roman" panose="02020603050405020304" pitchFamily="18" charset="0"/>
                          <a:cs typeface="Times New Roman" panose="02020603050405020304" pitchFamily="18" charset="0"/>
                        </a:rPr>
                        <a:t>TAE </a:t>
                      </a:r>
                    </a:p>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a:txBody>
                    <a:bodyPr/>
                    <a:lstStyle/>
                    <a:p>
                      <a:pPr marL="29210" indent="-6350">
                        <a:lnSpc>
                          <a:spcPct val="115000"/>
                        </a:lnSpc>
                        <a:spcAft>
                          <a:spcPts val="20"/>
                        </a:spcAft>
                        <a:buNone/>
                      </a:pPr>
                      <a:r>
                        <a:rPr lang="en-IN" sz="1600">
                          <a:effectLst/>
                          <a:latin typeface="Times New Roman" panose="02020603050405020304" pitchFamily="18" charset="0"/>
                          <a:cs typeface="Times New Roman" panose="02020603050405020304" pitchFamily="18" charset="0"/>
                        </a:rPr>
                        <a:t>CAE </a:t>
                      </a:r>
                    </a:p>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a:txBody>
                    <a:bodyPr/>
                    <a:lstStyle/>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ESE </a:t>
                      </a:r>
                    </a:p>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a:txBody>
                    <a:bodyPr/>
                    <a:lstStyle/>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INT </a:t>
                      </a:r>
                    </a:p>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 </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a:txBody>
                    <a:bodyPr/>
                    <a:lstStyle/>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EXT </a:t>
                      </a:r>
                    </a:p>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extLst>
                  <a:ext uri="{0D108BD9-81ED-4DB2-BD59-A6C34878D82A}">
                    <a16:rowId xmlns:a16="http://schemas.microsoft.com/office/drawing/2014/main" val="1126840084"/>
                  </a:ext>
                </a:extLst>
              </a:tr>
              <a:tr h="682738">
                <a:tc>
                  <a:txBody>
                    <a:bodyPr/>
                    <a:lstStyle/>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Course Category </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a:txBody>
                    <a:bodyPr/>
                    <a:lstStyle/>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MD-II </a:t>
                      </a:r>
                    </a:p>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 </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rowSpan="2">
                  <a:txBody>
                    <a:bodyPr/>
                    <a:lstStyle/>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2 </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tc rowSpan="2">
                  <a:txBody>
                    <a:bodyPr/>
                    <a:lstStyle/>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tc rowSpan="2">
                  <a:txBody>
                    <a:bodyPr/>
                    <a:lstStyle/>
                    <a:p>
                      <a:pPr indent="-6350" algn="ctr">
                        <a:lnSpc>
                          <a:spcPct val="115000"/>
                        </a:lnSpc>
                        <a:spcAft>
                          <a:spcPts val="20"/>
                        </a:spcAft>
                        <a:buNone/>
                      </a:pPr>
                      <a:r>
                        <a:rPr lang="en-US"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tc rowSpan="2">
                  <a:txBody>
                    <a:bodyPr/>
                    <a:lstStyle/>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2 </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tc rowSpan="2">
                  <a:txBody>
                    <a:bodyPr/>
                    <a:lstStyle/>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10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tc rowSpan="2">
                  <a:txBody>
                    <a:bodyPr/>
                    <a:lstStyle/>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15 </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tc rowSpan="2">
                  <a:txBody>
                    <a:bodyPr/>
                    <a:lstStyle/>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50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tc rowSpan="2">
                  <a:txBody>
                    <a:bodyPr/>
                    <a:lstStyle/>
                    <a:p>
                      <a:pPr indent="-6350" algn="ctr">
                        <a:lnSpc>
                          <a:spcPct val="115000"/>
                        </a:lnSpc>
                        <a:spcAft>
                          <a:spcPts val="20"/>
                        </a:spcAft>
                        <a:buNone/>
                      </a:pPr>
                      <a:r>
                        <a:rPr lang="en-US"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tc rowSpan="2">
                  <a:txBody>
                    <a:bodyPr/>
                    <a:lstStyle/>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extLst>
                  <a:ext uri="{0D108BD9-81ED-4DB2-BD59-A6C34878D82A}">
                    <a16:rowId xmlns:a16="http://schemas.microsoft.com/office/drawing/2014/main" val="2557681307"/>
                  </a:ext>
                </a:extLst>
              </a:tr>
              <a:tr h="682738">
                <a:tc>
                  <a:txBody>
                    <a:bodyPr/>
                    <a:lstStyle/>
                    <a:p>
                      <a:pPr marL="13335"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Course Code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a:txBody>
                    <a:bodyPr/>
                    <a:lstStyle/>
                    <a:p>
                      <a:pPr marL="36830" indent="-6350">
                        <a:lnSpc>
                          <a:spcPct val="115000"/>
                        </a:lnSpc>
                        <a:spcAft>
                          <a:spcPts val="20"/>
                        </a:spcAft>
                        <a:buNone/>
                      </a:pPr>
                      <a:r>
                        <a:rPr lang="en-IN" sz="1400" dirty="0">
                          <a:effectLst/>
                          <a:latin typeface="Times New Roman" panose="02020603050405020304" pitchFamily="18" charset="0"/>
                          <a:cs typeface="Times New Roman" panose="02020603050405020304" pitchFamily="18" charset="0"/>
                        </a:rPr>
                        <a:t>23BTDSL211 </a:t>
                      </a:r>
                      <a:endParaRPr lang="en-IN"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1774479348"/>
                  </a:ext>
                </a:extLst>
              </a:tr>
              <a:tr h="682738">
                <a:tc>
                  <a:txBody>
                    <a:bodyPr/>
                    <a:lstStyle/>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Teaching Mode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a:txBody>
                    <a:bodyPr/>
                    <a:lstStyle/>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Offline </a:t>
                      </a:r>
                    </a:p>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 </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rowSpan="2" gridSpan="3">
                  <a:txBody>
                    <a:bodyPr/>
                    <a:lstStyle/>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 </a:t>
                      </a:r>
                    </a:p>
                    <a:p>
                      <a:pPr marL="307975" indent="-6350">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    2</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tc rowSpan="2" hMerge="1">
                  <a:txBody>
                    <a:bodyPr/>
                    <a:lstStyle/>
                    <a:p>
                      <a:endParaRPr lang="en-IN"/>
                    </a:p>
                  </a:txBody>
                  <a:tcPr/>
                </a:tc>
                <a:tc rowSpan="2" hMerge="1">
                  <a:txBody>
                    <a:bodyPr/>
                    <a:lstStyle/>
                    <a:p>
                      <a:endParaRPr lang="en-IN"/>
                    </a:p>
                  </a:txBody>
                  <a:tcPr/>
                </a:tc>
                <a:tc rowSpan="2">
                  <a:txBody>
                    <a:bodyPr/>
                    <a:lstStyle/>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 </a:t>
                      </a:r>
                    </a:p>
                    <a:p>
                      <a:pPr indent="-6350" algn="ctr">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Total </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ctr"/>
                </a:tc>
                <a:tc gridSpan="3">
                  <a:txBody>
                    <a:bodyPr/>
                    <a:lstStyle/>
                    <a:p>
                      <a:pPr marL="402590" indent="-6350">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       75 </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b"/>
                </a:tc>
                <a:tc hMerge="1">
                  <a:txBody>
                    <a:bodyPr/>
                    <a:lstStyle/>
                    <a:p>
                      <a:endParaRPr lang="en-IN"/>
                    </a:p>
                  </a:txBody>
                  <a:tcPr/>
                </a:tc>
                <a:tc hMerge="1">
                  <a:txBody>
                    <a:bodyPr/>
                    <a:lstStyle/>
                    <a:p>
                      <a:endParaRPr lang="en-IN"/>
                    </a:p>
                  </a:txBody>
                  <a:tcPr/>
                </a:tc>
                <a:tc gridSpan="2">
                  <a:txBody>
                    <a:bodyPr/>
                    <a:lstStyle/>
                    <a:p>
                      <a:pPr indent="-6350" algn="ctr">
                        <a:lnSpc>
                          <a:spcPct val="115000"/>
                        </a:lnSpc>
                        <a:spcAft>
                          <a:spcPts val="20"/>
                        </a:spcAft>
                        <a:buNone/>
                      </a:pPr>
                      <a:r>
                        <a:rPr lang="en-US"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b"/>
                </a:tc>
                <a:tc hMerge="1">
                  <a:txBody>
                    <a:bodyPr/>
                    <a:lstStyle/>
                    <a:p>
                      <a:endParaRPr lang="en-IN"/>
                    </a:p>
                  </a:txBody>
                  <a:tcPr/>
                </a:tc>
                <a:extLst>
                  <a:ext uri="{0D108BD9-81ED-4DB2-BD59-A6C34878D82A}">
                    <a16:rowId xmlns:a16="http://schemas.microsoft.com/office/drawing/2014/main" val="3844746637"/>
                  </a:ext>
                </a:extLst>
              </a:tr>
              <a:tr h="661358">
                <a:tc>
                  <a:txBody>
                    <a:bodyPr/>
                    <a:lstStyle/>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Duration of ESE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a:txBody>
                    <a:bodyPr/>
                    <a:lstStyle/>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3 hrs </a:t>
                      </a:r>
                    </a:p>
                    <a:p>
                      <a:pPr indent="-6350" algn="ctr">
                        <a:lnSpc>
                          <a:spcPct val="115000"/>
                        </a:lnSpc>
                        <a:spcAft>
                          <a:spcPts val="20"/>
                        </a:spcAft>
                        <a:buNone/>
                      </a:pPr>
                      <a:r>
                        <a:rPr lang="en-IN" sz="1600">
                          <a:effectLst/>
                          <a:latin typeface="Times New Roman" panose="02020603050405020304" pitchFamily="18" charset="0"/>
                          <a:cs typeface="Times New Roman" panose="02020603050405020304" pitchFamily="18" charset="0"/>
                        </a:rPr>
                        <a:t> </a:t>
                      </a:r>
                      <a:endParaRPr lang="en-I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tc>
                <a:tc gridSpan="3" vMerge="1">
                  <a:txBody>
                    <a:bodyPr/>
                    <a:lstStyle/>
                    <a:p>
                      <a:endParaRPr lang="en-IN"/>
                    </a:p>
                  </a:txBody>
                  <a:tcPr/>
                </a:tc>
                <a:tc hMerge="1" vMerge="1">
                  <a:txBody>
                    <a:bodyPr/>
                    <a:lstStyle/>
                    <a:p>
                      <a:endParaRPr lang="en-IN"/>
                    </a:p>
                  </a:txBody>
                  <a:tcPr/>
                </a:tc>
                <a:tc hMerge="1" vMerge="1">
                  <a:txBody>
                    <a:bodyPr/>
                    <a:lstStyle/>
                    <a:p>
                      <a:endParaRPr lang="en-IN"/>
                    </a:p>
                  </a:txBody>
                  <a:tcPr/>
                </a:tc>
                <a:tc vMerge="1">
                  <a:txBody>
                    <a:bodyPr/>
                    <a:lstStyle/>
                    <a:p>
                      <a:endParaRPr lang="en-IN"/>
                    </a:p>
                  </a:txBody>
                  <a:tcPr/>
                </a:tc>
                <a:tc gridSpan="5">
                  <a:txBody>
                    <a:bodyPr/>
                    <a:lstStyle/>
                    <a:p>
                      <a:pPr indent="-6350">
                        <a:lnSpc>
                          <a:spcPct val="115000"/>
                        </a:lnSpc>
                        <a:spcAft>
                          <a:spcPts val="20"/>
                        </a:spcAft>
                        <a:buNone/>
                      </a:pPr>
                      <a:r>
                        <a:rPr lang="en-IN" sz="1600" dirty="0">
                          <a:effectLst/>
                          <a:latin typeface="Times New Roman" panose="02020603050405020304" pitchFamily="18" charset="0"/>
                          <a:cs typeface="Times New Roman" panose="02020603050405020304" pitchFamily="18" charset="0"/>
                        </a:rPr>
                        <a:t>                                75</a:t>
                      </a:r>
                      <a:endParaRPr lang="en-IN" sz="1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405" marR="73025" marT="0"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911865793"/>
                  </a:ext>
                </a:extLst>
              </a:tr>
            </a:tbl>
          </a:graphicData>
        </a:graphic>
      </p:graphicFrame>
      <p:pic>
        <p:nvPicPr>
          <p:cNvPr id="5" name="Picture 4">
            <a:extLst>
              <a:ext uri="{FF2B5EF4-FFF2-40B4-BE49-F238E27FC236}">
                <a16:creationId xmlns:a16="http://schemas.microsoft.com/office/drawing/2014/main" id="{4B36AA59-16C6-16C1-9C4F-1B4880A72F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82300" y="29026"/>
            <a:ext cx="1409700" cy="1409700"/>
          </a:xfrm>
          <a:prstGeom prst="rect">
            <a:avLst/>
          </a:prstGeom>
        </p:spPr>
      </p:pic>
    </p:spTree>
    <p:extLst>
      <p:ext uri="{BB962C8B-B14F-4D97-AF65-F5344CB8AC3E}">
        <p14:creationId xmlns:p14="http://schemas.microsoft.com/office/powerpoint/2010/main" val="1264661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EA26D-CFA9-DDC5-44B2-799961A74D0E}"/>
              </a:ext>
            </a:extLst>
          </p:cNvPr>
          <p:cNvSpPr>
            <a:spLocks noGrp="1"/>
          </p:cNvSpPr>
          <p:nvPr>
            <p:ph type="title"/>
          </p:nvPr>
        </p:nvSpPr>
        <p:spPr>
          <a:xfrm>
            <a:off x="838200" y="136525"/>
            <a:ext cx="10515600" cy="670461"/>
          </a:xfrm>
        </p:spPr>
        <p:txBody>
          <a:bodyPr anchor="ctr">
            <a:normAutofit/>
          </a:bodyPr>
          <a:lstStyle/>
          <a:p>
            <a:r>
              <a:rPr lang="en-IN" sz="4100"/>
              <a:t>Course Objectives and Outcomes</a:t>
            </a:r>
          </a:p>
        </p:txBody>
      </p:sp>
      <p:graphicFrame>
        <p:nvGraphicFramePr>
          <p:cNvPr id="6" name="Table 5">
            <a:extLst>
              <a:ext uri="{FF2B5EF4-FFF2-40B4-BE49-F238E27FC236}">
                <a16:creationId xmlns:a16="http://schemas.microsoft.com/office/drawing/2014/main" id="{8C6E53A5-251F-42AF-3CC9-9C73CF2B6CFB}"/>
              </a:ext>
            </a:extLst>
          </p:cNvPr>
          <p:cNvGraphicFramePr>
            <a:graphicFrameLocks noGrp="1"/>
          </p:cNvGraphicFramePr>
          <p:nvPr>
            <p:extLst>
              <p:ext uri="{D42A27DB-BD31-4B8C-83A1-F6EECF244321}">
                <p14:modId xmlns:p14="http://schemas.microsoft.com/office/powerpoint/2010/main" val="3343314271"/>
              </p:ext>
            </p:extLst>
          </p:nvPr>
        </p:nvGraphicFramePr>
        <p:xfrm>
          <a:off x="956287" y="949290"/>
          <a:ext cx="10279426" cy="4312586"/>
        </p:xfrm>
        <a:graphic>
          <a:graphicData uri="http://schemas.openxmlformats.org/drawingml/2006/table">
            <a:tbl>
              <a:tblPr firstRow="1" firstCol="1" lastRow="1" lastCol="1" bandRow="1" bandCol="1"/>
              <a:tblGrid>
                <a:gridCol w="2510109">
                  <a:extLst>
                    <a:ext uri="{9D8B030D-6E8A-4147-A177-3AD203B41FA5}">
                      <a16:colId xmlns:a16="http://schemas.microsoft.com/office/drawing/2014/main" val="3971422366"/>
                    </a:ext>
                  </a:extLst>
                </a:gridCol>
                <a:gridCol w="7769317">
                  <a:extLst>
                    <a:ext uri="{9D8B030D-6E8A-4147-A177-3AD203B41FA5}">
                      <a16:colId xmlns:a16="http://schemas.microsoft.com/office/drawing/2014/main" val="750327402"/>
                    </a:ext>
                  </a:extLst>
                </a:gridCol>
              </a:tblGrid>
              <a:tr h="619184">
                <a:tc rowSpan="3">
                  <a:txBody>
                    <a:bodyPr/>
                    <a:lstStyle/>
                    <a:p>
                      <a:pPr algn="l" fontAlgn="t">
                        <a:lnSpc>
                          <a:spcPct val="107000"/>
                        </a:lnSpc>
                        <a:buNone/>
                      </a:pPr>
                      <a:r>
                        <a:rPr lang="en-US" sz="2000" b="1"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0" i="0" u="none" strike="noStrike" dirty="0">
                        <a:effectLst/>
                        <a:latin typeface="Arial" panose="020B0604020202020204" pitchFamily="34" charset="0"/>
                      </a:endParaRPr>
                    </a:p>
                    <a:p>
                      <a:pPr algn="l" fontAlgn="t">
                        <a:lnSpc>
                          <a:spcPct val="107000"/>
                        </a:lnSpc>
                        <a:spcBef>
                          <a:spcPts val="15"/>
                        </a:spcBef>
                        <a:buNone/>
                      </a:pPr>
                      <a:r>
                        <a:rPr lang="en-US" sz="1600" b="1"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0" i="0" u="none" strike="noStrike" dirty="0">
                        <a:effectLst/>
                        <a:latin typeface="Arial" panose="020B0604020202020204" pitchFamily="34" charset="0"/>
                      </a:endParaRPr>
                    </a:p>
                    <a:p>
                      <a:pPr marL="64008" marR="54864" algn="l" fontAlgn="t">
                        <a:lnSpc>
                          <a:spcPct val="107000"/>
                        </a:lnSpc>
                        <a:buNone/>
                      </a:pPr>
                      <a:r>
                        <a:rPr lang="en-US" sz="1900" b="1"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Course</a:t>
                      </a:r>
                      <a:r>
                        <a:rPr lang="en-US" sz="1900" b="1" i="0" u="none" strike="noStrike"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1" i="0" u="none" strike="noStrike" spc="-5" dirty="0">
                          <a:effectLst/>
                          <a:latin typeface="Times New Roman" panose="02020603050405020304" pitchFamily="18" charset="0"/>
                          <a:ea typeface="Times New Roman" panose="02020603050405020304" pitchFamily="18" charset="0"/>
                          <a:cs typeface="Times New Roman" panose="02020603050405020304" pitchFamily="18" charset="0"/>
                        </a:rPr>
                        <a:t>Objectives</a:t>
                      </a:r>
                    </a:p>
                    <a:p>
                      <a:pPr indent="-9144" algn="l" fontAlgn="t">
                        <a:lnSpc>
                          <a:spcPct val="115000"/>
                        </a:lnSpc>
                        <a:spcAft>
                          <a:spcPts val="20"/>
                        </a:spcAft>
                        <a:buNone/>
                      </a:pPr>
                      <a:r>
                        <a:rPr lang="en-IN" sz="200" b="1" i="0" u="none" strike="noStrike" dirty="0">
                          <a:solidFill>
                            <a:srgbClr val="000000"/>
                          </a:solidFill>
                          <a:effectLst/>
                          <a:latin typeface="Times New Roman" panose="02020603050405020304" pitchFamily="18" charset="0"/>
                          <a:cs typeface="Times New Roman" panose="02020603050405020304" pitchFamily="18" charset="0"/>
                        </a:rPr>
                        <a:t> </a:t>
                      </a:r>
                      <a:endParaRPr lang="en-IN" sz="2800" b="0" i="0" u="none" strike="noStrike" dirty="0">
                        <a:effectLst/>
                        <a:latin typeface="Arial" panose="020B0604020202020204" pitchFamily="34" charset="0"/>
                      </a:endParaRPr>
                    </a:p>
                  </a:txBody>
                  <a:tcPr marL="143634" marR="143634" marT="71817" marB="7181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3152" algn="just" fontAlgn="t">
                        <a:lnSpc>
                          <a:spcPct val="100000"/>
                        </a:lnSpc>
                        <a:buNone/>
                      </a:pPr>
                      <a:r>
                        <a:rPr lang="en-US" sz="2000" dirty="0">
                          <a:latin typeface="Times New Roman" panose="02020603050405020304" pitchFamily="18" charset="0"/>
                          <a:cs typeface="Times New Roman" panose="02020603050405020304" pitchFamily="18" charset="0"/>
                        </a:rPr>
                        <a:t>To introduce students the basics of Tableau, including the user interface and key features.</a:t>
                      </a:r>
                      <a:endParaRPr lang="en-US" sz="2000" b="0" i="0" u="none" strike="noStrike" dirty="0">
                        <a:effectLst/>
                        <a:latin typeface="Times New Roman" panose="02020603050405020304" pitchFamily="18" charset="0"/>
                        <a:cs typeface="Times New Roman" panose="02020603050405020304" pitchFamily="18" charset="0"/>
                      </a:endParaRPr>
                    </a:p>
                  </a:txBody>
                  <a:tcPr marL="14962" marR="14962" marT="149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4261657"/>
                  </a:ext>
                </a:extLst>
              </a:tr>
              <a:tr h="521583">
                <a:tc vMerge="1">
                  <a:txBody>
                    <a:bodyPr/>
                    <a:lstStyle/>
                    <a:p>
                      <a:endParaRPr lang="en-IN"/>
                    </a:p>
                  </a:txBody>
                  <a:tcPr/>
                </a:tc>
                <a:tc>
                  <a:txBody>
                    <a:bodyPr/>
                    <a:lstStyle/>
                    <a:p>
                      <a:pPr marL="73152" marR="356616" algn="just" fontAlgn="t">
                        <a:lnSpc>
                          <a:spcPct val="107000"/>
                        </a:lnSpc>
                        <a:spcBef>
                          <a:spcPts val="30"/>
                        </a:spcBef>
                        <a:buNone/>
                      </a:pPr>
                      <a:r>
                        <a:rPr lang="en-US" sz="2000" dirty="0">
                          <a:latin typeface="Times New Roman" panose="02020603050405020304" pitchFamily="18" charset="0"/>
                          <a:cs typeface="Times New Roman" panose="02020603050405020304" pitchFamily="18" charset="0"/>
                        </a:rPr>
                        <a:t>To provide students with the knowledge of blending and joining data from multiple sources.</a:t>
                      </a:r>
                      <a:endParaRPr lang="en-US" sz="2000" b="0" i="0" u="none" strike="noStrike" dirty="0">
                        <a:effectLst/>
                        <a:latin typeface="Times New Roman" panose="02020603050405020304" pitchFamily="18" charset="0"/>
                        <a:cs typeface="Times New Roman" panose="02020603050405020304" pitchFamily="18" charset="0"/>
                      </a:endParaRPr>
                    </a:p>
                  </a:txBody>
                  <a:tcPr marL="14962" marR="14962" marT="149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569829"/>
                  </a:ext>
                </a:extLst>
              </a:tr>
              <a:tr h="441452">
                <a:tc vMerge="1">
                  <a:txBody>
                    <a:bodyPr/>
                    <a:lstStyle/>
                    <a:p>
                      <a:endParaRPr/>
                    </a:p>
                  </a:txBody>
                  <a:tcPr marL="14962" marR="14962" marT="149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3152" marR="356616" algn="just" fontAlgn="t">
                        <a:lnSpc>
                          <a:spcPct val="107000"/>
                        </a:lnSpc>
                        <a:spcBef>
                          <a:spcPts val="30"/>
                        </a:spcBef>
                        <a:buNone/>
                      </a:pPr>
                      <a:r>
                        <a:rPr lang="en-US" sz="2000" dirty="0">
                          <a:latin typeface="Times New Roman" panose="02020603050405020304" pitchFamily="18" charset="0"/>
                          <a:cs typeface="Times New Roman" panose="02020603050405020304" pitchFamily="18" charset="0"/>
                        </a:rPr>
                        <a:t>To encourage students to explore advanced analytics features and create interactive dashboards by combining multiple visualizations.</a:t>
                      </a:r>
                      <a:endParaRPr lang="en-IN" sz="2000" b="0" i="0" u="none" strike="noStrike" dirty="0">
                        <a:effectLst/>
                        <a:latin typeface="Times New Roman" panose="02020603050405020304" pitchFamily="18" charset="0"/>
                        <a:cs typeface="Times New Roman" panose="02020603050405020304" pitchFamily="18" charset="0"/>
                      </a:endParaRPr>
                    </a:p>
                  </a:txBody>
                  <a:tcPr marL="14962" marR="14962" marT="149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5245398"/>
                  </a:ext>
                </a:extLst>
              </a:tr>
              <a:tr h="389924">
                <a:tc rowSpan="5">
                  <a:txBody>
                    <a:bodyPr/>
                    <a:lstStyle/>
                    <a:p>
                      <a:pPr algn="l" fontAlgn="t">
                        <a:lnSpc>
                          <a:spcPct val="107000"/>
                        </a:lnSpc>
                        <a:buNone/>
                      </a:pPr>
                      <a:r>
                        <a:rPr lang="en-US" sz="2000" b="1"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0" i="0" u="none" strike="noStrike" dirty="0">
                        <a:effectLst/>
                        <a:latin typeface="Arial" panose="020B0604020202020204" pitchFamily="34" charset="0"/>
                      </a:endParaRPr>
                    </a:p>
                    <a:p>
                      <a:pPr algn="l" fontAlgn="t">
                        <a:lnSpc>
                          <a:spcPct val="107000"/>
                        </a:lnSpc>
                        <a:buNone/>
                      </a:pPr>
                      <a:r>
                        <a:rPr lang="en-US" sz="2000" b="1"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0" i="0" u="none" strike="noStrike" dirty="0">
                        <a:effectLst/>
                        <a:latin typeface="Arial" panose="020B0604020202020204" pitchFamily="34" charset="0"/>
                      </a:endParaRPr>
                    </a:p>
                    <a:p>
                      <a:pPr algn="l" fontAlgn="t">
                        <a:lnSpc>
                          <a:spcPct val="107000"/>
                        </a:lnSpc>
                        <a:buNone/>
                      </a:pPr>
                      <a:r>
                        <a:rPr lang="en-US" sz="2000" b="1"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0" i="0" u="none" strike="noStrike" dirty="0">
                        <a:effectLst/>
                        <a:latin typeface="Arial" panose="020B0604020202020204" pitchFamily="34" charset="0"/>
                      </a:endParaRPr>
                    </a:p>
                    <a:p>
                      <a:pPr algn="l" fontAlgn="t">
                        <a:lnSpc>
                          <a:spcPct val="107000"/>
                        </a:lnSpc>
                        <a:spcBef>
                          <a:spcPts val="10"/>
                        </a:spcBef>
                        <a:buNone/>
                      </a:pPr>
                      <a:r>
                        <a:rPr lang="en-US" sz="1900" b="1"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  Course</a:t>
                      </a:r>
                      <a:r>
                        <a:rPr lang="en-US" sz="1900" b="1" i="0" u="none" strike="noStrike"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900" b="1"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Outcomes</a:t>
                      </a:r>
                      <a:endParaRPr lang="en-US" sz="2800" b="0" i="0" u="none" strike="noStrike" dirty="0">
                        <a:effectLst/>
                        <a:latin typeface="Arial" panose="020B0604020202020204" pitchFamily="34" charset="0"/>
                      </a:endParaRPr>
                    </a:p>
                  </a:txBody>
                  <a:tcPr marL="143634" marR="143634" marT="71817" marB="7181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3152" algn="just" fontAlgn="t">
                        <a:lnSpc>
                          <a:spcPct val="100000"/>
                        </a:lnSpc>
                        <a:buNone/>
                      </a:pPr>
                      <a:r>
                        <a:rPr lang="en-US" sz="19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CO1: </a:t>
                      </a:r>
                      <a:r>
                        <a:rPr lang="en-US" sz="2000" dirty="0">
                          <a:latin typeface="Times New Roman" panose="02020603050405020304" pitchFamily="18" charset="0"/>
                          <a:cs typeface="Times New Roman" panose="02020603050405020304" pitchFamily="18" charset="0"/>
                        </a:rPr>
                        <a:t>Understand the representation of tableau and its fields.</a:t>
                      </a:r>
                      <a:endParaRPr lang="en-US" sz="1900" b="0" i="0" u="none" strike="noStrike" dirty="0">
                        <a:effectLst/>
                        <a:latin typeface="Times New Roman" panose="02020603050405020304" pitchFamily="18" charset="0"/>
                        <a:cs typeface="Times New Roman" panose="02020603050405020304" pitchFamily="18" charset="0"/>
                      </a:endParaRPr>
                    </a:p>
                  </a:txBody>
                  <a:tcPr marL="14962" marR="14962" marT="149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5138238"/>
                  </a:ext>
                </a:extLst>
              </a:tr>
              <a:tr h="445346">
                <a:tc vMerge="1">
                  <a:txBody>
                    <a:bodyPr/>
                    <a:lstStyle/>
                    <a:p>
                      <a:endParaRPr lang="en-IN"/>
                    </a:p>
                  </a:txBody>
                  <a:tcPr/>
                </a:tc>
                <a:tc>
                  <a:txBody>
                    <a:bodyPr/>
                    <a:lstStyle/>
                    <a:p>
                      <a:pPr marL="73152" marR="356616" algn="just" fontAlgn="t">
                        <a:lnSpc>
                          <a:spcPct val="100000"/>
                        </a:lnSpc>
                        <a:spcBef>
                          <a:spcPts val="30"/>
                        </a:spcBef>
                        <a:buNone/>
                      </a:pPr>
                      <a:r>
                        <a:rPr lang="en-US" sz="19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CO2: </a:t>
                      </a:r>
                      <a:r>
                        <a:rPr lang="en-US" sz="2000" dirty="0">
                          <a:latin typeface="Times New Roman" panose="02020603050405020304" pitchFamily="18" charset="0"/>
                          <a:cs typeface="Times New Roman" panose="02020603050405020304" pitchFamily="18" charset="0"/>
                        </a:rPr>
                        <a:t>Analyze various data organization that are present in tableau.</a:t>
                      </a:r>
                      <a:endParaRPr lang="en-US" sz="1900" b="0" i="0" u="none" strike="noStrike" dirty="0">
                        <a:effectLst/>
                        <a:latin typeface="Times New Roman" panose="02020603050405020304" pitchFamily="18" charset="0"/>
                        <a:cs typeface="Times New Roman" panose="02020603050405020304" pitchFamily="18" charset="0"/>
                      </a:endParaRPr>
                    </a:p>
                  </a:txBody>
                  <a:tcPr marL="14962" marR="14962" marT="149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1897051"/>
                  </a:ext>
                </a:extLst>
              </a:tr>
              <a:tr h="413657">
                <a:tc vMerge="1">
                  <a:txBody>
                    <a:bodyPr/>
                    <a:lstStyle/>
                    <a:p>
                      <a:endParaRPr lang="en-IN"/>
                    </a:p>
                  </a:txBody>
                  <a:tcPr/>
                </a:tc>
                <a:tc>
                  <a:txBody>
                    <a:bodyPr/>
                    <a:lstStyle/>
                    <a:p>
                      <a:pPr marL="73152" marR="402336" algn="just" fontAlgn="t">
                        <a:lnSpc>
                          <a:spcPct val="100000"/>
                        </a:lnSpc>
                        <a:spcBef>
                          <a:spcPts val="40"/>
                        </a:spcBef>
                        <a:buNone/>
                      </a:pPr>
                      <a:r>
                        <a:rPr lang="en-US" sz="19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CO3: </a:t>
                      </a:r>
                      <a:r>
                        <a:rPr lang="en-US" sz="2000" dirty="0">
                          <a:latin typeface="Times New Roman" panose="02020603050405020304" pitchFamily="18" charset="0"/>
                          <a:cs typeface="Times New Roman" panose="02020603050405020304" pitchFamily="18" charset="0"/>
                        </a:rPr>
                        <a:t>Apply visualization tips in tableau.</a:t>
                      </a:r>
                      <a:endParaRPr lang="en-US" sz="1900" b="0" i="0" u="none" strike="noStrike" dirty="0">
                        <a:effectLst/>
                        <a:latin typeface="Times New Roman" panose="02020603050405020304" pitchFamily="18" charset="0"/>
                        <a:cs typeface="Times New Roman" panose="02020603050405020304" pitchFamily="18" charset="0"/>
                      </a:endParaRPr>
                    </a:p>
                  </a:txBody>
                  <a:tcPr marL="14962" marR="14962" marT="149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6424414"/>
                  </a:ext>
                </a:extLst>
              </a:tr>
              <a:tr h="480067">
                <a:tc vMerge="1">
                  <a:txBody>
                    <a:bodyPr/>
                    <a:lstStyle/>
                    <a:p>
                      <a:endParaRPr lang="en-IN"/>
                    </a:p>
                  </a:txBody>
                  <a:tcPr/>
                </a:tc>
                <a:tc>
                  <a:txBody>
                    <a:bodyPr/>
                    <a:lstStyle/>
                    <a:p>
                      <a:pPr marL="73152" marR="402336" algn="just" fontAlgn="t">
                        <a:lnSpc>
                          <a:spcPct val="100000"/>
                        </a:lnSpc>
                        <a:spcBef>
                          <a:spcPts val="40"/>
                        </a:spcBef>
                        <a:buNone/>
                      </a:pPr>
                      <a:r>
                        <a:rPr lang="en-US" sz="19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CO4: </a:t>
                      </a:r>
                      <a:r>
                        <a:rPr lang="en-US" sz="2000" dirty="0">
                          <a:latin typeface="Times New Roman" panose="02020603050405020304" pitchFamily="18" charset="0"/>
                          <a:cs typeface="Times New Roman" panose="02020603050405020304" pitchFamily="18" charset="0"/>
                        </a:rPr>
                        <a:t>Apply the various charts and maps used for data visualization.</a:t>
                      </a:r>
                      <a:endParaRPr lang="en-US" sz="1900" b="0" i="0" u="none" strike="noStrike" dirty="0">
                        <a:effectLst/>
                        <a:latin typeface="Times New Roman" panose="02020603050405020304" pitchFamily="18" charset="0"/>
                        <a:cs typeface="Times New Roman" panose="02020603050405020304" pitchFamily="18" charset="0"/>
                      </a:endParaRPr>
                    </a:p>
                  </a:txBody>
                  <a:tcPr marL="14962" marR="14962" marT="149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4823405"/>
                  </a:ext>
                </a:extLst>
              </a:tr>
              <a:tr h="419822">
                <a:tc vMerge="1">
                  <a:txBody>
                    <a:bodyPr/>
                    <a:lstStyle/>
                    <a:p>
                      <a:endParaRPr lang="en-IN"/>
                    </a:p>
                  </a:txBody>
                  <a:tcPr/>
                </a:tc>
                <a:tc>
                  <a:txBody>
                    <a:bodyPr/>
                    <a:lstStyle/>
                    <a:p>
                      <a:pPr marR="402336" algn="just" fontAlgn="t">
                        <a:lnSpc>
                          <a:spcPct val="100000"/>
                        </a:lnSpc>
                        <a:spcBef>
                          <a:spcPts val="30"/>
                        </a:spcBef>
                        <a:buNone/>
                      </a:pPr>
                      <a:r>
                        <a:rPr lang="en-US" sz="19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 CO5: </a:t>
                      </a:r>
                      <a:r>
                        <a:rPr lang="en-US" sz="1900" b="1" i="0" u="none" strike="noStrike"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Design the Database connection with tableau and forecast the predictions.</a:t>
                      </a:r>
                      <a:endParaRPr lang="en-US" sz="1900" b="0" i="0" u="none" strike="noStrike" dirty="0">
                        <a:effectLst/>
                        <a:latin typeface="Times New Roman" panose="02020603050405020304" pitchFamily="18" charset="0"/>
                        <a:cs typeface="Times New Roman" panose="02020603050405020304" pitchFamily="18" charset="0"/>
                      </a:endParaRPr>
                    </a:p>
                  </a:txBody>
                  <a:tcPr marL="14962" marR="14962" marT="1496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7503867"/>
                  </a:ext>
                </a:extLst>
              </a:tr>
            </a:tbl>
          </a:graphicData>
        </a:graphic>
      </p:graphicFrame>
      <p:pic>
        <p:nvPicPr>
          <p:cNvPr id="3" name="Picture 2">
            <a:extLst>
              <a:ext uri="{FF2B5EF4-FFF2-40B4-BE49-F238E27FC236}">
                <a16:creationId xmlns:a16="http://schemas.microsoft.com/office/drawing/2014/main" id="{5727061C-9664-8F79-FB63-562A06CA06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82300" y="1"/>
            <a:ext cx="1409700" cy="949290"/>
          </a:xfrm>
          <a:prstGeom prst="rect">
            <a:avLst/>
          </a:prstGeom>
        </p:spPr>
      </p:pic>
    </p:spTree>
    <p:extLst>
      <p:ext uri="{BB962C8B-B14F-4D97-AF65-F5344CB8AC3E}">
        <p14:creationId xmlns:p14="http://schemas.microsoft.com/office/powerpoint/2010/main" val="2663985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EA26D-CFA9-DDC5-44B2-799961A74D0E}"/>
              </a:ext>
            </a:extLst>
          </p:cNvPr>
          <p:cNvSpPr>
            <a:spLocks noGrp="1"/>
          </p:cNvSpPr>
          <p:nvPr>
            <p:ph type="title"/>
          </p:nvPr>
        </p:nvSpPr>
        <p:spPr>
          <a:xfrm>
            <a:off x="838200" y="136525"/>
            <a:ext cx="10515600" cy="670461"/>
          </a:xfrm>
        </p:spPr>
        <p:txBody>
          <a:bodyPr anchor="ctr">
            <a:normAutofit/>
          </a:bodyPr>
          <a:lstStyle/>
          <a:p>
            <a:pPr>
              <a:spcBef>
                <a:spcPts val="1200"/>
              </a:spcBef>
              <a:spcAft>
                <a:spcPts val="0"/>
              </a:spcAft>
            </a:pPr>
            <a:r>
              <a:rPr lang="en-US" sz="2100"/>
              <a:t>Mapping of Course Outcomes with Program Outcomes and Program Specific Outcomes:</a:t>
            </a:r>
            <a:endParaRPr lang="en-IN" sz="2100"/>
          </a:p>
        </p:txBody>
      </p:sp>
      <p:graphicFrame>
        <p:nvGraphicFramePr>
          <p:cNvPr id="3" name="Table 2">
            <a:extLst>
              <a:ext uri="{FF2B5EF4-FFF2-40B4-BE49-F238E27FC236}">
                <a16:creationId xmlns:a16="http://schemas.microsoft.com/office/drawing/2014/main" id="{58C98BEB-1F07-1B18-164A-D625126C3422}"/>
              </a:ext>
            </a:extLst>
          </p:cNvPr>
          <p:cNvGraphicFramePr>
            <a:graphicFrameLocks noGrp="1"/>
          </p:cNvGraphicFramePr>
          <p:nvPr>
            <p:extLst>
              <p:ext uri="{D42A27DB-BD31-4B8C-83A1-F6EECF244321}">
                <p14:modId xmlns:p14="http://schemas.microsoft.com/office/powerpoint/2010/main" val="2138331909"/>
              </p:ext>
            </p:extLst>
          </p:nvPr>
        </p:nvGraphicFramePr>
        <p:xfrm>
          <a:off x="838200" y="1306287"/>
          <a:ext cx="9883705" cy="4150517"/>
        </p:xfrm>
        <a:graphic>
          <a:graphicData uri="http://schemas.openxmlformats.org/drawingml/2006/table">
            <a:tbl>
              <a:tblPr firstRow="1" firstCol="1" lastRow="1" lastCol="1" bandRow="1" bandCol="1">
                <a:noFill/>
                <a:tableStyleId>{5C22544A-7EE6-4342-B048-85BDC9FD1C3A}</a:tableStyleId>
              </a:tblPr>
              <a:tblGrid>
                <a:gridCol w="1022318">
                  <a:extLst>
                    <a:ext uri="{9D8B030D-6E8A-4147-A177-3AD203B41FA5}">
                      <a16:colId xmlns:a16="http://schemas.microsoft.com/office/drawing/2014/main" val="3817119386"/>
                    </a:ext>
                  </a:extLst>
                </a:gridCol>
                <a:gridCol w="630919">
                  <a:extLst>
                    <a:ext uri="{9D8B030D-6E8A-4147-A177-3AD203B41FA5}">
                      <a16:colId xmlns:a16="http://schemas.microsoft.com/office/drawing/2014/main" val="3484849491"/>
                    </a:ext>
                  </a:extLst>
                </a:gridCol>
                <a:gridCol w="630919">
                  <a:extLst>
                    <a:ext uri="{9D8B030D-6E8A-4147-A177-3AD203B41FA5}">
                      <a16:colId xmlns:a16="http://schemas.microsoft.com/office/drawing/2014/main" val="2020485578"/>
                    </a:ext>
                  </a:extLst>
                </a:gridCol>
                <a:gridCol w="631411">
                  <a:extLst>
                    <a:ext uri="{9D8B030D-6E8A-4147-A177-3AD203B41FA5}">
                      <a16:colId xmlns:a16="http://schemas.microsoft.com/office/drawing/2014/main" val="1454726739"/>
                    </a:ext>
                  </a:extLst>
                </a:gridCol>
                <a:gridCol w="633378">
                  <a:extLst>
                    <a:ext uri="{9D8B030D-6E8A-4147-A177-3AD203B41FA5}">
                      <a16:colId xmlns:a16="http://schemas.microsoft.com/office/drawing/2014/main" val="1640624392"/>
                    </a:ext>
                  </a:extLst>
                </a:gridCol>
                <a:gridCol w="631411">
                  <a:extLst>
                    <a:ext uri="{9D8B030D-6E8A-4147-A177-3AD203B41FA5}">
                      <a16:colId xmlns:a16="http://schemas.microsoft.com/office/drawing/2014/main" val="2808871169"/>
                    </a:ext>
                  </a:extLst>
                </a:gridCol>
                <a:gridCol w="630427">
                  <a:extLst>
                    <a:ext uri="{9D8B030D-6E8A-4147-A177-3AD203B41FA5}">
                      <a16:colId xmlns:a16="http://schemas.microsoft.com/office/drawing/2014/main" val="725270621"/>
                    </a:ext>
                  </a:extLst>
                </a:gridCol>
                <a:gridCol w="630427">
                  <a:extLst>
                    <a:ext uri="{9D8B030D-6E8A-4147-A177-3AD203B41FA5}">
                      <a16:colId xmlns:a16="http://schemas.microsoft.com/office/drawing/2014/main" val="1735530491"/>
                    </a:ext>
                  </a:extLst>
                </a:gridCol>
                <a:gridCol w="628952">
                  <a:extLst>
                    <a:ext uri="{9D8B030D-6E8A-4147-A177-3AD203B41FA5}">
                      <a16:colId xmlns:a16="http://schemas.microsoft.com/office/drawing/2014/main" val="1831836735"/>
                    </a:ext>
                  </a:extLst>
                </a:gridCol>
                <a:gridCol w="705665">
                  <a:extLst>
                    <a:ext uri="{9D8B030D-6E8A-4147-A177-3AD203B41FA5}">
                      <a16:colId xmlns:a16="http://schemas.microsoft.com/office/drawing/2014/main" val="1887090595"/>
                    </a:ext>
                  </a:extLst>
                </a:gridCol>
                <a:gridCol w="706157">
                  <a:extLst>
                    <a:ext uri="{9D8B030D-6E8A-4147-A177-3AD203B41FA5}">
                      <a16:colId xmlns:a16="http://schemas.microsoft.com/office/drawing/2014/main" val="1937353468"/>
                    </a:ext>
                  </a:extLst>
                </a:gridCol>
                <a:gridCol w="862534">
                  <a:extLst>
                    <a:ext uri="{9D8B030D-6E8A-4147-A177-3AD203B41FA5}">
                      <a16:colId xmlns:a16="http://schemas.microsoft.com/office/drawing/2014/main" val="3540435809"/>
                    </a:ext>
                  </a:extLst>
                </a:gridCol>
                <a:gridCol w="849503">
                  <a:extLst>
                    <a:ext uri="{9D8B030D-6E8A-4147-A177-3AD203B41FA5}">
                      <a16:colId xmlns:a16="http://schemas.microsoft.com/office/drawing/2014/main" val="2414886770"/>
                    </a:ext>
                  </a:extLst>
                </a:gridCol>
                <a:gridCol w="689684">
                  <a:extLst>
                    <a:ext uri="{9D8B030D-6E8A-4147-A177-3AD203B41FA5}">
                      <a16:colId xmlns:a16="http://schemas.microsoft.com/office/drawing/2014/main" val="3920720918"/>
                    </a:ext>
                  </a:extLst>
                </a:gridCol>
              </a:tblGrid>
              <a:tr h="624979">
                <a:tc rowSpan="2">
                  <a:txBody>
                    <a:bodyPr/>
                    <a:lstStyle/>
                    <a:p>
                      <a:pPr marL="67945" marR="53975">
                        <a:lnSpc>
                          <a:spcPct val="107000"/>
                        </a:lnSpc>
                        <a:buNone/>
                      </a:pPr>
                      <a:r>
                        <a:rPr lang="en-US" dirty="0"/>
                        <a:t>Course Out comes</a:t>
                      </a:r>
                      <a:endParaRPr lang="en-IN" dirty="0"/>
                    </a:p>
                  </a:txBody>
                  <a:tcPr marL="106219" marR="106219" marT="106219" marB="106219" anchor="ctr">
                    <a:lnL w="12700" cmpd="sng">
                      <a:noFill/>
                      <a:prstDash val="solid"/>
                    </a:lnL>
                    <a:lnR w="12700" cmpd="sng">
                      <a:noFill/>
                      <a:prstDash val="solid"/>
                    </a:lnR>
                    <a:lnT w="12700" cmpd="sng">
                      <a:noFill/>
                    </a:lnT>
                    <a:lnB w="12700" cmpd="sng">
                      <a:noFill/>
                      <a:prstDash val="solid"/>
                    </a:lnB>
                    <a:solidFill>
                      <a:srgbClr val="505356"/>
                    </a:solidFill>
                  </a:tcPr>
                </a:tc>
                <a:tc gridSpan="13">
                  <a:txBody>
                    <a:bodyPr/>
                    <a:lstStyle/>
                    <a:p>
                      <a:pPr marL="1779905" marR="1778000" algn="l">
                        <a:lnSpc>
                          <a:spcPts val="930"/>
                        </a:lnSpc>
                        <a:buNone/>
                      </a:pPr>
                      <a:r>
                        <a:rPr lang="en-US"/>
                        <a:t>Program Outcomes and Program Specific Outcomes</a:t>
                      </a:r>
                      <a:endParaRPr lang="en-IN"/>
                    </a:p>
                  </a:txBody>
                  <a:tcPr marL="106219" marR="106219" marT="106219" marB="106219" anchor="ctr">
                    <a:lnL w="12700" cmpd="sng">
                      <a:noFill/>
                      <a:prstDash val="solid"/>
                    </a:lnL>
                    <a:lnR w="12700" cmpd="sng">
                      <a:noFill/>
                      <a:prstDash val="solid"/>
                    </a:lnR>
                    <a:lnT w="12700" cmpd="sng">
                      <a:noFill/>
                    </a:lnT>
                    <a:lnB w="12700" cmpd="sng">
                      <a:noFill/>
                      <a:prstDash val="solid"/>
                    </a:lnB>
                    <a:solidFill>
                      <a:srgbClr val="505356"/>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lnL w="12700" cmpd="sng">
                      <a:noFill/>
                    </a:ln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175418982"/>
                  </a:ext>
                </a:extLst>
              </a:tr>
              <a:tr h="704553">
                <a:tc vMerge="1">
                  <a:txBody>
                    <a:bodyPr/>
                    <a:lstStyle/>
                    <a:p>
                      <a:endParaRPr lang="en-IN"/>
                    </a:p>
                  </a:txBody>
                  <a:tcPr/>
                </a:tc>
                <a:tc>
                  <a:txBody>
                    <a:bodyPr/>
                    <a:lstStyle/>
                    <a:p>
                      <a:pPr marL="52705" marR="47625" algn="ctr">
                        <a:lnSpc>
                          <a:spcPct val="107000"/>
                        </a:lnSpc>
                        <a:spcBef>
                          <a:spcPts val="80"/>
                        </a:spcBef>
                        <a:buNone/>
                      </a:pPr>
                      <a:r>
                        <a:rPr lang="en-US" b="0" dirty="0">
                          <a:solidFill>
                            <a:schemeClr val="tx1"/>
                          </a:solidFill>
                        </a:rPr>
                        <a:t>PO1</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noFill/>
                  </a:tcPr>
                </a:tc>
                <a:tc>
                  <a:txBody>
                    <a:bodyPr/>
                    <a:lstStyle/>
                    <a:p>
                      <a:pPr marL="52705" marR="47625" algn="ctr">
                        <a:lnSpc>
                          <a:spcPct val="107000"/>
                        </a:lnSpc>
                        <a:spcBef>
                          <a:spcPts val="80"/>
                        </a:spcBef>
                        <a:buNone/>
                      </a:pPr>
                      <a:r>
                        <a:rPr lang="en-US" b="0">
                          <a:solidFill>
                            <a:schemeClr val="tx1"/>
                          </a:solidFill>
                        </a:rPr>
                        <a:t>PO2</a:t>
                      </a:r>
                      <a:endParaRPr lang="en-IN" b="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L="52070" marR="48895" algn="ctr">
                        <a:lnSpc>
                          <a:spcPct val="107000"/>
                        </a:lnSpc>
                        <a:spcBef>
                          <a:spcPts val="80"/>
                        </a:spcBef>
                        <a:buNone/>
                      </a:pPr>
                      <a:r>
                        <a:rPr lang="en-US" b="0" dirty="0">
                          <a:solidFill>
                            <a:schemeClr val="tx1"/>
                          </a:solidFill>
                        </a:rPr>
                        <a:t>PO3</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noFill/>
                  </a:tcPr>
                </a:tc>
                <a:tc>
                  <a:txBody>
                    <a:bodyPr/>
                    <a:lstStyle/>
                    <a:p>
                      <a:pPr marL="53340" marR="50165" algn="ctr">
                        <a:lnSpc>
                          <a:spcPct val="107000"/>
                        </a:lnSpc>
                        <a:spcBef>
                          <a:spcPts val="80"/>
                        </a:spcBef>
                        <a:buNone/>
                      </a:pPr>
                      <a:r>
                        <a:rPr lang="en-US" b="0">
                          <a:solidFill>
                            <a:schemeClr val="tx1"/>
                          </a:solidFill>
                        </a:rPr>
                        <a:t>PO4</a:t>
                      </a:r>
                      <a:endParaRPr lang="en-IN" b="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L="52070" marR="48895" algn="ctr">
                        <a:lnSpc>
                          <a:spcPct val="107000"/>
                        </a:lnSpc>
                        <a:spcBef>
                          <a:spcPts val="80"/>
                        </a:spcBef>
                        <a:buNone/>
                      </a:pPr>
                      <a:r>
                        <a:rPr lang="en-US" b="0">
                          <a:solidFill>
                            <a:schemeClr val="tx1"/>
                          </a:solidFill>
                        </a:rPr>
                        <a:t>PO5</a:t>
                      </a:r>
                      <a:endParaRPr lang="en-IN" b="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noFill/>
                  </a:tcPr>
                </a:tc>
                <a:tc>
                  <a:txBody>
                    <a:bodyPr/>
                    <a:lstStyle/>
                    <a:p>
                      <a:pPr marL="50800" marR="48895" algn="ctr">
                        <a:lnSpc>
                          <a:spcPct val="107000"/>
                        </a:lnSpc>
                        <a:spcBef>
                          <a:spcPts val="80"/>
                        </a:spcBef>
                        <a:buNone/>
                      </a:pPr>
                      <a:r>
                        <a:rPr lang="en-US" b="0" dirty="0">
                          <a:solidFill>
                            <a:schemeClr val="tx1"/>
                          </a:solidFill>
                        </a:rPr>
                        <a:t>PO6</a:t>
                      </a:r>
                      <a:endParaRPr lang="en-IN" b="0" dirty="0">
                        <a:solidFill>
                          <a:schemeClr val="tx1"/>
                        </a:solidFill>
                      </a:endParaRPr>
                    </a:p>
                  </a:txBody>
                  <a:tcPr marL="106219" marR="106219" marT="106219" marB="106219">
                    <a:lnL w="12700" cmpd="sng">
                      <a:noFill/>
                      <a:prstDash val="solid"/>
                    </a:lnL>
                    <a:lnR w="12700" cmpd="sng">
                      <a:noFill/>
                      <a:prstDash val="solid"/>
                    </a:lnR>
                    <a:lnB w="12700" cmpd="sng">
                      <a:noFill/>
                      <a:prstDash val="solid"/>
                    </a:lnB>
                    <a:noFill/>
                  </a:tcPr>
                </a:tc>
                <a:tc>
                  <a:txBody>
                    <a:bodyPr/>
                    <a:lstStyle/>
                    <a:p>
                      <a:pPr marL="50800" marR="48895" algn="ctr">
                        <a:lnSpc>
                          <a:spcPct val="107000"/>
                        </a:lnSpc>
                        <a:spcBef>
                          <a:spcPts val="80"/>
                        </a:spcBef>
                        <a:buNone/>
                      </a:pPr>
                      <a:r>
                        <a:rPr lang="en-US" b="0" dirty="0">
                          <a:solidFill>
                            <a:schemeClr val="tx1"/>
                          </a:solidFill>
                        </a:rPr>
                        <a:t>PO7</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L="49530" marR="48260" algn="ctr">
                        <a:lnSpc>
                          <a:spcPct val="107000"/>
                        </a:lnSpc>
                        <a:spcBef>
                          <a:spcPts val="80"/>
                        </a:spcBef>
                        <a:buNone/>
                      </a:pPr>
                      <a:r>
                        <a:rPr lang="en-US" b="0" dirty="0">
                          <a:solidFill>
                            <a:schemeClr val="tx1"/>
                          </a:solidFill>
                        </a:rPr>
                        <a:t>PO8</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noFill/>
                  </a:tcPr>
                </a:tc>
                <a:tc>
                  <a:txBody>
                    <a:bodyPr/>
                    <a:lstStyle/>
                    <a:p>
                      <a:pPr marL="54610" marR="50165" algn="ctr">
                        <a:lnSpc>
                          <a:spcPct val="107000"/>
                        </a:lnSpc>
                        <a:spcBef>
                          <a:spcPts val="80"/>
                        </a:spcBef>
                        <a:buNone/>
                      </a:pPr>
                      <a:r>
                        <a:rPr lang="en-US" b="0" dirty="0">
                          <a:solidFill>
                            <a:schemeClr val="tx1"/>
                          </a:solidFill>
                        </a:rPr>
                        <a:t>PO 9</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L="54610" marR="50800" algn="ctr">
                        <a:lnSpc>
                          <a:spcPct val="107000"/>
                        </a:lnSpc>
                        <a:spcBef>
                          <a:spcPts val="80"/>
                        </a:spcBef>
                        <a:buNone/>
                      </a:pPr>
                      <a:r>
                        <a:rPr lang="en-US" b="0" dirty="0">
                          <a:solidFill>
                            <a:schemeClr val="tx1"/>
                          </a:solidFill>
                        </a:rPr>
                        <a:t>PO 10</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noFill/>
                  </a:tcPr>
                </a:tc>
                <a:tc>
                  <a:txBody>
                    <a:bodyPr/>
                    <a:lstStyle/>
                    <a:p>
                      <a:pPr marR="307340" algn="r">
                        <a:lnSpc>
                          <a:spcPct val="107000"/>
                        </a:lnSpc>
                        <a:spcBef>
                          <a:spcPts val="80"/>
                        </a:spcBef>
                        <a:buNone/>
                      </a:pPr>
                      <a:r>
                        <a:rPr lang="en-US" b="0" dirty="0">
                          <a:solidFill>
                            <a:schemeClr val="tx1"/>
                          </a:solidFill>
                        </a:rPr>
                        <a:t>PO11</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R="273050" algn="r">
                        <a:lnSpc>
                          <a:spcPct val="107000"/>
                        </a:lnSpc>
                        <a:spcBef>
                          <a:spcPts val="80"/>
                        </a:spcBef>
                        <a:buNone/>
                      </a:pPr>
                      <a:r>
                        <a:rPr lang="en-US" b="0" dirty="0">
                          <a:solidFill>
                            <a:schemeClr val="tx1"/>
                          </a:solidFill>
                        </a:rPr>
                        <a:t>PSO1</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noFill/>
                  </a:tcPr>
                </a:tc>
                <a:tc>
                  <a:txBody>
                    <a:bodyPr/>
                    <a:lstStyle/>
                    <a:p>
                      <a:pPr marL="66675" algn="l">
                        <a:lnSpc>
                          <a:spcPct val="107000"/>
                        </a:lnSpc>
                        <a:spcBef>
                          <a:spcPts val="80"/>
                        </a:spcBef>
                        <a:buNone/>
                      </a:pPr>
                      <a:r>
                        <a:rPr lang="en-US" b="0" dirty="0">
                          <a:solidFill>
                            <a:schemeClr val="tx1"/>
                          </a:solidFill>
                        </a:rPr>
                        <a:t>PSO2</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420541255"/>
                  </a:ext>
                </a:extLst>
              </a:tr>
              <a:tr h="549486">
                <a:tc>
                  <a:txBody>
                    <a:bodyPr/>
                    <a:lstStyle/>
                    <a:p>
                      <a:pPr marL="67945">
                        <a:lnSpc>
                          <a:spcPts val="1035"/>
                        </a:lnSpc>
                        <a:buNone/>
                      </a:pPr>
                      <a:r>
                        <a:rPr lang="en-US" dirty="0">
                          <a:solidFill>
                            <a:schemeClr val="tx1"/>
                          </a:solidFill>
                        </a:rPr>
                        <a:t>CO1</a:t>
                      </a:r>
                      <a:endParaRPr lang="en-IN"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5080" algn="ctr">
                        <a:lnSpc>
                          <a:spcPts val="1035"/>
                        </a:lnSpc>
                        <a:buNone/>
                      </a:pPr>
                      <a:r>
                        <a:rPr lang="en-US" b="0" dirty="0">
                          <a:solidFill>
                            <a:schemeClr val="tx1"/>
                          </a:solidFill>
                        </a:rPr>
                        <a:t>2</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3810" algn="ctr">
                        <a:lnSpc>
                          <a:spcPts val="1035"/>
                        </a:lnSpc>
                        <a:buNone/>
                      </a:pPr>
                      <a:r>
                        <a:rPr lang="en-US" b="0" dirty="0">
                          <a:solidFill>
                            <a:schemeClr val="tx1"/>
                          </a:solidFill>
                        </a:rPr>
                        <a:t>2</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L="1905" algn="ctr">
                        <a:lnSpc>
                          <a:spcPts val="1035"/>
                        </a:lnSpc>
                        <a:buNone/>
                      </a:pPr>
                      <a:r>
                        <a:rPr lang="en-US" b="0" dirty="0">
                          <a:solidFill>
                            <a:schemeClr val="tx1"/>
                          </a:solidFill>
                        </a:rPr>
                        <a:t>2</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3810" algn="ctr">
                        <a:lnSpc>
                          <a:spcPts val="1035"/>
                        </a:lnSpc>
                        <a:buNone/>
                      </a:pPr>
                      <a:r>
                        <a:rPr lang="en-US" b="0" dirty="0">
                          <a:solidFill>
                            <a:schemeClr val="tx1"/>
                          </a:solidFill>
                        </a:rPr>
                        <a:t>2</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L="1905" algn="ctr">
                        <a:lnSpc>
                          <a:spcPts val="1035"/>
                        </a:lnSpc>
                        <a:buNone/>
                      </a:pPr>
                      <a:r>
                        <a:rPr lang="en-US" b="0" dirty="0">
                          <a:solidFill>
                            <a:schemeClr val="tx1"/>
                          </a:solidFill>
                        </a:rPr>
                        <a:t>1</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1270" algn="ctr">
                        <a:lnSpc>
                          <a:spcPts val="1035"/>
                        </a:lnSpc>
                        <a:buNone/>
                      </a:pPr>
                      <a:r>
                        <a:rPr lang="en-US" b="0" dirty="0">
                          <a:solidFill>
                            <a:schemeClr val="tx1"/>
                          </a:solidFill>
                        </a:rPr>
                        <a:t>-</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1270" algn="ctr">
                        <a:lnSpc>
                          <a:spcPts val="1035"/>
                        </a:lnSpc>
                        <a:buNone/>
                      </a:pPr>
                      <a:r>
                        <a:rPr lang="en-US" b="0">
                          <a:solidFill>
                            <a:schemeClr val="tx1"/>
                          </a:solidFill>
                        </a:rPr>
                        <a:t>-</a:t>
                      </a:r>
                      <a:endParaRPr lang="en-IN" b="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algn="ctr">
                        <a:lnSpc>
                          <a:spcPts val="1035"/>
                        </a:lnSpc>
                        <a:buNone/>
                      </a:pPr>
                      <a:r>
                        <a:rPr lang="en-US" b="0" dirty="0">
                          <a:solidFill>
                            <a:schemeClr val="tx1"/>
                          </a:solidFill>
                        </a:rPr>
                        <a:t>-</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1270" algn="ctr">
                        <a:lnSpc>
                          <a:spcPts val="1035"/>
                        </a:lnSpc>
                        <a:buNone/>
                      </a:pPr>
                      <a:r>
                        <a:rPr lang="en-US" b="0" dirty="0">
                          <a:solidFill>
                            <a:schemeClr val="tx1"/>
                          </a:solidFill>
                        </a:rPr>
                        <a:t>-</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L="3175" algn="ctr">
                        <a:lnSpc>
                          <a:spcPts val="1035"/>
                        </a:lnSpc>
                        <a:buNone/>
                      </a:pPr>
                      <a:r>
                        <a:rPr lang="en-US" b="0">
                          <a:solidFill>
                            <a:schemeClr val="tx1"/>
                          </a:solidFill>
                        </a:rPr>
                        <a:t>-</a:t>
                      </a:r>
                      <a:endParaRPr lang="en-IN" b="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R="302895" algn="r">
                        <a:lnSpc>
                          <a:spcPts val="1035"/>
                        </a:lnSpc>
                        <a:buNone/>
                      </a:pPr>
                      <a:r>
                        <a:rPr lang="en-US" b="0">
                          <a:solidFill>
                            <a:schemeClr val="tx1"/>
                          </a:solidFill>
                        </a:rPr>
                        <a:t>-</a:t>
                      </a:r>
                      <a:endParaRPr lang="en-IN" b="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R="279400" algn="r">
                        <a:lnSpc>
                          <a:spcPts val="1035"/>
                        </a:lnSpc>
                        <a:buNone/>
                      </a:pPr>
                      <a:r>
                        <a:rPr lang="en-US" b="0" dirty="0">
                          <a:solidFill>
                            <a:schemeClr val="tx1"/>
                          </a:solidFill>
                        </a:rPr>
                        <a:t>1</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R="403225" algn="l">
                        <a:lnSpc>
                          <a:spcPts val="1035"/>
                        </a:lnSpc>
                        <a:buNone/>
                      </a:pPr>
                      <a:r>
                        <a:rPr lang="en-US" b="0" dirty="0">
                          <a:solidFill>
                            <a:schemeClr val="tx1"/>
                          </a:solidFill>
                        </a:rPr>
                        <a:t>2</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1237484659"/>
                  </a:ext>
                </a:extLst>
              </a:tr>
              <a:tr h="488404">
                <a:tc>
                  <a:txBody>
                    <a:bodyPr/>
                    <a:lstStyle/>
                    <a:p>
                      <a:pPr marL="67945">
                        <a:lnSpc>
                          <a:spcPts val="1035"/>
                        </a:lnSpc>
                        <a:buNone/>
                      </a:pPr>
                      <a:r>
                        <a:rPr lang="en-US">
                          <a:solidFill>
                            <a:schemeClr val="tx1"/>
                          </a:solidFill>
                        </a:rPr>
                        <a:t>CO2</a:t>
                      </a:r>
                      <a:endParaRPr lang="en-IN">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noFill/>
                  </a:tcPr>
                </a:tc>
                <a:tc>
                  <a:txBody>
                    <a:bodyPr/>
                    <a:lstStyle/>
                    <a:p>
                      <a:pPr algn="ctr">
                        <a:lnSpc>
                          <a:spcPct val="107000"/>
                        </a:lnSpc>
                        <a:buNone/>
                      </a:pPr>
                      <a:r>
                        <a:rPr lang="en-US" b="0" dirty="0">
                          <a:solidFill>
                            <a:schemeClr val="tx1"/>
                          </a:solidFill>
                        </a:rPr>
                        <a:t>3</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noFill/>
                  </a:tcPr>
                </a:tc>
                <a:tc>
                  <a:txBody>
                    <a:bodyPr/>
                    <a:lstStyle/>
                    <a:p>
                      <a:pPr marL="4445" algn="ctr">
                        <a:lnSpc>
                          <a:spcPts val="1035"/>
                        </a:lnSpc>
                        <a:buNone/>
                      </a:pPr>
                      <a:r>
                        <a:rPr lang="en-US" b="0" dirty="0">
                          <a:solidFill>
                            <a:schemeClr val="tx1"/>
                          </a:solidFill>
                        </a:rPr>
                        <a:t>3</a:t>
                      </a: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L="1905" algn="ctr">
                        <a:lnSpc>
                          <a:spcPts val="1035"/>
                        </a:lnSpc>
                        <a:buNone/>
                      </a:pPr>
                      <a:r>
                        <a:rPr lang="en-US" b="0" dirty="0">
                          <a:solidFill>
                            <a:schemeClr val="tx1"/>
                          </a:solidFill>
                        </a:rPr>
                        <a:t>3</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noFill/>
                  </a:tcPr>
                </a:tc>
                <a:tc>
                  <a:txBody>
                    <a:bodyPr/>
                    <a:lstStyle/>
                    <a:p>
                      <a:pPr marL="3175" algn="ctr">
                        <a:lnSpc>
                          <a:spcPts val="1035"/>
                        </a:lnSpc>
                        <a:buNone/>
                      </a:pPr>
                      <a:r>
                        <a:rPr lang="en-US" b="0" dirty="0">
                          <a:solidFill>
                            <a:schemeClr val="tx1"/>
                          </a:solidFill>
                        </a:rPr>
                        <a:t>3</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L="1905" algn="ctr">
                        <a:lnSpc>
                          <a:spcPts val="1035"/>
                        </a:lnSpc>
                        <a:buNone/>
                      </a:pPr>
                      <a:r>
                        <a:rPr lang="en-US" b="0" dirty="0">
                          <a:solidFill>
                            <a:schemeClr val="tx1"/>
                          </a:solidFill>
                        </a:rPr>
                        <a:t>3</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noFill/>
                  </a:tcPr>
                </a:tc>
                <a:tc>
                  <a:txBody>
                    <a:bodyPr/>
                    <a:lstStyle/>
                    <a:p>
                      <a:pPr marL="1270" algn="ctr">
                        <a:lnSpc>
                          <a:spcPts val="1035"/>
                        </a:lnSpc>
                        <a:buNone/>
                      </a:pPr>
                      <a:r>
                        <a:rPr lang="en-US" b="0" dirty="0">
                          <a:solidFill>
                            <a:schemeClr val="tx1"/>
                          </a:solidFill>
                        </a:rPr>
                        <a:t>-</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noFill/>
                  </a:tcPr>
                </a:tc>
                <a:tc>
                  <a:txBody>
                    <a:bodyPr/>
                    <a:lstStyle/>
                    <a:p>
                      <a:pPr marL="1270" algn="ctr">
                        <a:lnSpc>
                          <a:spcPts val="1035"/>
                        </a:lnSpc>
                        <a:buNone/>
                      </a:pPr>
                      <a:r>
                        <a:rPr lang="en-US" b="0">
                          <a:solidFill>
                            <a:schemeClr val="tx1"/>
                          </a:solidFill>
                        </a:rPr>
                        <a:t>-</a:t>
                      </a:r>
                      <a:endParaRPr lang="en-IN" b="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algn="ctr">
                        <a:lnSpc>
                          <a:spcPts val="1035"/>
                        </a:lnSpc>
                        <a:buNone/>
                      </a:pPr>
                      <a:r>
                        <a:rPr lang="en-US" b="0">
                          <a:solidFill>
                            <a:schemeClr val="tx1"/>
                          </a:solidFill>
                        </a:rPr>
                        <a:t>-</a:t>
                      </a:r>
                      <a:endParaRPr lang="en-IN" b="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noFill/>
                  </a:tcPr>
                </a:tc>
                <a:tc>
                  <a:txBody>
                    <a:bodyPr/>
                    <a:lstStyle/>
                    <a:p>
                      <a:pPr marL="3810" algn="ctr">
                        <a:lnSpc>
                          <a:spcPts val="1035"/>
                        </a:lnSpc>
                        <a:buNone/>
                      </a:pPr>
                      <a:r>
                        <a:rPr lang="en-US" b="0" dirty="0">
                          <a:solidFill>
                            <a:schemeClr val="tx1"/>
                          </a:solidFill>
                        </a:rPr>
                        <a:t>-</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L="3175" algn="ctr">
                        <a:lnSpc>
                          <a:spcPts val="1035"/>
                        </a:lnSpc>
                        <a:buNone/>
                      </a:pPr>
                      <a:r>
                        <a:rPr lang="en-US" b="0">
                          <a:solidFill>
                            <a:schemeClr val="tx1"/>
                          </a:solidFill>
                        </a:rPr>
                        <a:t>-</a:t>
                      </a:r>
                      <a:endParaRPr lang="en-IN" b="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noFill/>
                  </a:tcPr>
                </a:tc>
                <a:tc>
                  <a:txBody>
                    <a:bodyPr/>
                    <a:lstStyle/>
                    <a:p>
                      <a:pPr marR="302895" algn="r">
                        <a:lnSpc>
                          <a:spcPts val="1035"/>
                        </a:lnSpc>
                        <a:buNone/>
                      </a:pPr>
                      <a:r>
                        <a:rPr lang="en-US" b="0">
                          <a:solidFill>
                            <a:schemeClr val="tx1"/>
                          </a:solidFill>
                        </a:rPr>
                        <a:t>-</a:t>
                      </a:r>
                      <a:endParaRPr lang="en-IN" b="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R="288925" algn="r">
                        <a:lnSpc>
                          <a:spcPts val="1035"/>
                        </a:lnSpc>
                        <a:buNone/>
                      </a:pPr>
                      <a:r>
                        <a:rPr lang="en-US" b="0" dirty="0">
                          <a:solidFill>
                            <a:schemeClr val="tx1"/>
                          </a:solidFill>
                        </a:rPr>
                        <a:t>1</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noFill/>
                  </a:tcPr>
                </a:tc>
                <a:tc>
                  <a:txBody>
                    <a:bodyPr/>
                    <a:lstStyle/>
                    <a:p>
                      <a:pPr marR="394335" algn="l">
                        <a:lnSpc>
                          <a:spcPts val="1035"/>
                        </a:lnSpc>
                        <a:buNone/>
                      </a:pPr>
                      <a:r>
                        <a:rPr lang="en-US" b="0" dirty="0">
                          <a:solidFill>
                            <a:schemeClr val="tx1"/>
                          </a:solidFill>
                        </a:rPr>
                        <a:t>2</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25813782"/>
                  </a:ext>
                </a:extLst>
              </a:tr>
              <a:tr h="549486">
                <a:tc>
                  <a:txBody>
                    <a:bodyPr/>
                    <a:lstStyle/>
                    <a:p>
                      <a:pPr marL="67945">
                        <a:lnSpc>
                          <a:spcPts val="1035"/>
                        </a:lnSpc>
                        <a:buNone/>
                      </a:pPr>
                      <a:r>
                        <a:rPr lang="en-US">
                          <a:solidFill>
                            <a:schemeClr val="tx1"/>
                          </a:solidFill>
                        </a:rPr>
                        <a:t>CO3</a:t>
                      </a:r>
                      <a:endParaRPr lang="en-IN">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4445" algn="ctr">
                        <a:lnSpc>
                          <a:spcPts val="1035"/>
                        </a:lnSpc>
                        <a:buNone/>
                      </a:pPr>
                      <a:r>
                        <a:rPr lang="en-US" b="0" dirty="0">
                          <a:solidFill>
                            <a:schemeClr val="tx1"/>
                          </a:solidFill>
                        </a:rPr>
                        <a:t>2</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4445" algn="ctr">
                        <a:lnSpc>
                          <a:spcPts val="1035"/>
                        </a:lnSpc>
                        <a:buNone/>
                      </a:pPr>
                      <a:r>
                        <a:rPr lang="en-US" b="0" dirty="0">
                          <a:solidFill>
                            <a:schemeClr val="tx1"/>
                          </a:solidFill>
                        </a:rPr>
                        <a:t>2</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L="2540" algn="ctr">
                        <a:lnSpc>
                          <a:spcPts val="1035"/>
                        </a:lnSpc>
                        <a:buNone/>
                      </a:pPr>
                      <a:r>
                        <a:rPr lang="en-US" b="0" dirty="0">
                          <a:solidFill>
                            <a:schemeClr val="tx1"/>
                          </a:solidFill>
                        </a:rPr>
                        <a:t>3</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3175" algn="ctr">
                        <a:lnSpc>
                          <a:spcPts val="1035"/>
                        </a:lnSpc>
                        <a:buNone/>
                      </a:pPr>
                      <a:r>
                        <a:rPr lang="en-US" b="0" dirty="0">
                          <a:solidFill>
                            <a:schemeClr val="tx1"/>
                          </a:solidFill>
                        </a:rPr>
                        <a:t>3</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L="1905" algn="ctr">
                        <a:lnSpc>
                          <a:spcPts val="1035"/>
                        </a:lnSpc>
                        <a:buNone/>
                      </a:pPr>
                      <a:r>
                        <a:rPr lang="en-US" b="0" dirty="0">
                          <a:solidFill>
                            <a:schemeClr val="tx1"/>
                          </a:solidFill>
                        </a:rPr>
                        <a:t>3</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1270" algn="ctr">
                        <a:lnSpc>
                          <a:spcPts val="1035"/>
                        </a:lnSpc>
                        <a:buNone/>
                      </a:pPr>
                      <a:r>
                        <a:rPr lang="en-US" b="0">
                          <a:solidFill>
                            <a:schemeClr val="tx1"/>
                          </a:solidFill>
                        </a:rPr>
                        <a:t>-</a:t>
                      </a:r>
                      <a:endParaRPr lang="en-IN" b="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1270" algn="ctr">
                        <a:lnSpc>
                          <a:spcPts val="1035"/>
                        </a:lnSpc>
                        <a:buNone/>
                      </a:pPr>
                      <a:r>
                        <a:rPr lang="en-US" b="0">
                          <a:solidFill>
                            <a:schemeClr val="tx1"/>
                          </a:solidFill>
                        </a:rPr>
                        <a:t>-</a:t>
                      </a:r>
                      <a:endParaRPr lang="en-IN" b="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algn="ctr">
                        <a:lnSpc>
                          <a:spcPts val="1035"/>
                        </a:lnSpc>
                        <a:buNone/>
                      </a:pPr>
                      <a:r>
                        <a:rPr lang="en-US" b="0" dirty="0">
                          <a:solidFill>
                            <a:schemeClr val="tx1"/>
                          </a:solidFill>
                        </a:rPr>
                        <a:t>-</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3810" algn="ctr">
                        <a:lnSpc>
                          <a:spcPts val="1035"/>
                        </a:lnSpc>
                        <a:buNone/>
                      </a:pPr>
                      <a:r>
                        <a:rPr lang="en-US" b="0" dirty="0">
                          <a:solidFill>
                            <a:schemeClr val="tx1"/>
                          </a:solidFill>
                        </a:rPr>
                        <a:t>-</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L="3175" algn="ctr">
                        <a:lnSpc>
                          <a:spcPts val="1035"/>
                        </a:lnSpc>
                        <a:buNone/>
                      </a:pPr>
                      <a:r>
                        <a:rPr lang="en-US" b="0">
                          <a:solidFill>
                            <a:schemeClr val="tx1"/>
                          </a:solidFill>
                        </a:rPr>
                        <a:t>-</a:t>
                      </a:r>
                      <a:endParaRPr lang="en-IN" b="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R="302895" algn="r">
                        <a:lnSpc>
                          <a:spcPts val="1035"/>
                        </a:lnSpc>
                        <a:buNone/>
                      </a:pPr>
                      <a:r>
                        <a:rPr lang="en-US" b="0" dirty="0">
                          <a:solidFill>
                            <a:schemeClr val="tx1"/>
                          </a:solidFill>
                        </a:rPr>
                        <a:t>1</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chemeClr val="tx1">
                        <a:alpha val="8000"/>
                      </a:schemeClr>
                    </a:solidFill>
                  </a:tcPr>
                </a:tc>
                <a:tc>
                  <a:txBody>
                    <a:bodyPr/>
                    <a:lstStyle/>
                    <a:p>
                      <a:pPr marR="288925" algn="r">
                        <a:lnSpc>
                          <a:spcPts val="1035"/>
                        </a:lnSpc>
                        <a:buNone/>
                      </a:pPr>
                      <a:r>
                        <a:rPr lang="en-US" b="0" dirty="0">
                          <a:solidFill>
                            <a:schemeClr val="tx1"/>
                          </a:solidFill>
                        </a:rPr>
                        <a:t>1</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R="394335" algn="l">
                        <a:lnSpc>
                          <a:spcPts val="1035"/>
                        </a:lnSpc>
                        <a:buNone/>
                      </a:pPr>
                      <a:r>
                        <a:rPr lang="en-US" b="0" dirty="0">
                          <a:solidFill>
                            <a:schemeClr val="tx1"/>
                          </a:solidFill>
                        </a:rPr>
                        <a:t>1</a:t>
                      </a:r>
                      <a:endParaRPr lang="en-IN" b="0"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1206847743"/>
                  </a:ext>
                </a:extLst>
              </a:tr>
              <a:tr h="518957">
                <a:tc>
                  <a:txBody>
                    <a:bodyPr/>
                    <a:lstStyle/>
                    <a:p>
                      <a:pPr marL="67945">
                        <a:lnSpc>
                          <a:spcPts val="1035"/>
                        </a:lnSpc>
                        <a:buNone/>
                      </a:pPr>
                      <a:r>
                        <a:rPr lang="en-US" u="none" dirty="0">
                          <a:solidFill>
                            <a:schemeClr val="tx1"/>
                          </a:solidFill>
                        </a:rPr>
                        <a:t>CO4</a:t>
                      </a:r>
                      <a:endParaRPr lang="en-IN" u="none"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marL="5080" algn="ctr">
                        <a:lnSpc>
                          <a:spcPts val="1035"/>
                        </a:lnSpc>
                        <a:buNone/>
                      </a:pPr>
                      <a:r>
                        <a:rPr lang="en-US" b="0" u="none" dirty="0">
                          <a:solidFill>
                            <a:schemeClr val="tx1"/>
                          </a:solidFill>
                        </a:rPr>
                        <a:t>2</a:t>
                      </a:r>
                      <a:endParaRPr lang="en-IN" b="0" u="none"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marL="3810" algn="ctr">
                        <a:lnSpc>
                          <a:spcPts val="1035"/>
                        </a:lnSpc>
                        <a:buNone/>
                      </a:pPr>
                      <a:r>
                        <a:rPr lang="en-US" b="0" u="none" dirty="0">
                          <a:solidFill>
                            <a:schemeClr val="tx1"/>
                          </a:solidFill>
                        </a:rPr>
                        <a:t>3</a:t>
                      </a:r>
                      <a:endParaRPr lang="en-IN" b="0" u="none"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ap="flat" cmpd="sng" algn="ctr">
                      <a:solidFill>
                        <a:schemeClr val="tx1"/>
                      </a:solidFill>
                      <a:prstDash val="solid"/>
                    </a:lnB>
                    <a:solidFill>
                      <a:schemeClr val="tx1">
                        <a:alpha val="8000"/>
                      </a:schemeClr>
                    </a:solidFill>
                  </a:tcPr>
                </a:tc>
                <a:tc>
                  <a:txBody>
                    <a:bodyPr/>
                    <a:lstStyle/>
                    <a:p>
                      <a:pPr marL="1905" algn="ctr">
                        <a:lnSpc>
                          <a:spcPts val="1035"/>
                        </a:lnSpc>
                        <a:buNone/>
                      </a:pPr>
                      <a:r>
                        <a:rPr lang="en-US" b="0" u="none" dirty="0">
                          <a:solidFill>
                            <a:schemeClr val="tx1"/>
                          </a:solidFill>
                        </a:rPr>
                        <a:t>3</a:t>
                      </a:r>
                      <a:endParaRPr lang="en-IN" b="0" u="none"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marL="3175" algn="ctr">
                        <a:lnSpc>
                          <a:spcPts val="1035"/>
                        </a:lnSpc>
                        <a:buNone/>
                      </a:pPr>
                      <a:r>
                        <a:rPr lang="en-US" b="0" u="none" dirty="0">
                          <a:solidFill>
                            <a:schemeClr val="tx1"/>
                          </a:solidFill>
                        </a:rPr>
                        <a:t>2</a:t>
                      </a:r>
                      <a:endParaRPr lang="en-IN" b="0" u="none"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ap="flat" cmpd="sng" algn="ctr">
                      <a:solidFill>
                        <a:schemeClr val="tx1"/>
                      </a:solidFill>
                      <a:prstDash val="solid"/>
                    </a:lnB>
                    <a:solidFill>
                      <a:schemeClr val="tx1">
                        <a:alpha val="8000"/>
                      </a:schemeClr>
                    </a:solidFill>
                  </a:tcPr>
                </a:tc>
                <a:tc>
                  <a:txBody>
                    <a:bodyPr/>
                    <a:lstStyle/>
                    <a:p>
                      <a:pPr marL="1905" algn="ctr">
                        <a:lnSpc>
                          <a:spcPts val="1035"/>
                        </a:lnSpc>
                        <a:buNone/>
                      </a:pPr>
                      <a:r>
                        <a:rPr lang="en-US" b="0" u="none" dirty="0">
                          <a:solidFill>
                            <a:schemeClr val="tx1"/>
                          </a:solidFill>
                        </a:rPr>
                        <a:t>3</a:t>
                      </a:r>
                      <a:endParaRPr lang="en-IN" b="0" u="none"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marL="1270" algn="ctr">
                        <a:lnSpc>
                          <a:spcPts val="1035"/>
                        </a:lnSpc>
                        <a:buNone/>
                      </a:pPr>
                      <a:r>
                        <a:rPr lang="en-US" b="0" u="none" dirty="0">
                          <a:solidFill>
                            <a:schemeClr val="tx1"/>
                          </a:solidFill>
                        </a:rPr>
                        <a:t>-</a:t>
                      </a:r>
                      <a:endParaRPr lang="en-IN" b="0" u="none"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noFill/>
                  </a:tcPr>
                </a:tc>
                <a:tc>
                  <a:txBody>
                    <a:bodyPr/>
                    <a:lstStyle/>
                    <a:p>
                      <a:pPr marL="1270" algn="ctr">
                        <a:lnSpc>
                          <a:spcPts val="1035"/>
                        </a:lnSpc>
                        <a:buNone/>
                      </a:pPr>
                      <a:r>
                        <a:rPr lang="en-US" b="0" u="none">
                          <a:solidFill>
                            <a:schemeClr val="tx1"/>
                          </a:solidFill>
                        </a:rPr>
                        <a:t>-</a:t>
                      </a:r>
                      <a:endParaRPr lang="en-IN" b="0" u="none">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ap="flat" cmpd="sng" algn="ctr">
                      <a:solidFill>
                        <a:schemeClr val="tx1"/>
                      </a:solidFill>
                      <a:prstDash val="solid"/>
                    </a:lnB>
                    <a:solidFill>
                      <a:schemeClr val="tx1">
                        <a:alpha val="8000"/>
                      </a:schemeClr>
                    </a:solidFill>
                  </a:tcPr>
                </a:tc>
                <a:tc>
                  <a:txBody>
                    <a:bodyPr/>
                    <a:lstStyle/>
                    <a:p>
                      <a:pPr algn="ctr">
                        <a:lnSpc>
                          <a:spcPts val="1035"/>
                        </a:lnSpc>
                        <a:buNone/>
                      </a:pPr>
                      <a:r>
                        <a:rPr lang="en-US" b="0" u="none">
                          <a:solidFill>
                            <a:schemeClr val="tx1"/>
                          </a:solidFill>
                        </a:rPr>
                        <a:t>-</a:t>
                      </a:r>
                      <a:endParaRPr lang="en-IN" b="0" u="none">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marL="1270" algn="ctr">
                        <a:lnSpc>
                          <a:spcPts val="1035"/>
                        </a:lnSpc>
                        <a:buNone/>
                      </a:pPr>
                      <a:r>
                        <a:rPr lang="en-US" b="0" u="none" dirty="0">
                          <a:solidFill>
                            <a:schemeClr val="tx1"/>
                          </a:solidFill>
                        </a:rPr>
                        <a:t>-</a:t>
                      </a:r>
                      <a:endParaRPr lang="en-IN" b="0" u="none"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ap="flat" cmpd="sng" algn="ctr">
                      <a:solidFill>
                        <a:schemeClr val="tx1"/>
                      </a:solidFill>
                      <a:prstDash val="solid"/>
                    </a:lnB>
                    <a:solidFill>
                      <a:schemeClr val="tx1">
                        <a:alpha val="8000"/>
                      </a:schemeClr>
                    </a:solidFill>
                  </a:tcPr>
                </a:tc>
                <a:tc>
                  <a:txBody>
                    <a:bodyPr/>
                    <a:lstStyle/>
                    <a:p>
                      <a:pPr marL="3175" algn="ctr">
                        <a:lnSpc>
                          <a:spcPts val="1035"/>
                        </a:lnSpc>
                        <a:buNone/>
                      </a:pPr>
                      <a:r>
                        <a:rPr lang="en-US" b="0" u="none" dirty="0">
                          <a:solidFill>
                            <a:schemeClr val="tx1"/>
                          </a:solidFill>
                        </a:rPr>
                        <a:t>-</a:t>
                      </a:r>
                      <a:endParaRPr lang="en-IN" b="0" u="none"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marR="302895" algn="r">
                        <a:lnSpc>
                          <a:spcPts val="1035"/>
                        </a:lnSpc>
                        <a:buNone/>
                      </a:pPr>
                      <a:r>
                        <a:rPr lang="en-US" b="0" u="none" dirty="0">
                          <a:solidFill>
                            <a:schemeClr val="tx1"/>
                          </a:solidFill>
                        </a:rPr>
                        <a:t>2</a:t>
                      </a:r>
                      <a:endParaRPr lang="en-IN" b="0" u="none"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ap="flat" cmpd="sng" algn="ctr">
                      <a:solidFill>
                        <a:schemeClr val="tx1"/>
                      </a:solidFill>
                      <a:prstDash val="solid"/>
                    </a:lnB>
                    <a:solidFill>
                      <a:schemeClr val="tx1">
                        <a:alpha val="8000"/>
                      </a:schemeClr>
                    </a:solidFill>
                  </a:tcPr>
                </a:tc>
                <a:tc>
                  <a:txBody>
                    <a:bodyPr/>
                    <a:lstStyle/>
                    <a:p>
                      <a:pPr marR="279400" algn="r">
                        <a:lnSpc>
                          <a:spcPts val="1035"/>
                        </a:lnSpc>
                        <a:buNone/>
                      </a:pPr>
                      <a:r>
                        <a:rPr lang="en-US" b="0" u="none" dirty="0">
                          <a:solidFill>
                            <a:schemeClr val="tx1"/>
                          </a:solidFill>
                        </a:rPr>
                        <a:t>2</a:t>
                      </a:r>
                      <a:endParaRPr lang="en-IN" b="0" u="none"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marR="403225" algn="l">
                        <a:lnSpc>
                          <a:spcPts val="1035"/>
                        </a:lnSpc>
                        <a:buNone/>
                      </a:pPr>
                      <a:r>
                        <a:rPr lang="en-US" b="0" u="none" dirty="0">
                          <a:solidFill>
                            <a:schemeClr val="tx1"/>
                          </a:solidFill>
                        </a:rPr>
                        <a:t>3</a:t>
                      </a:r>
                      <a:endParaRPr lang="en-IN" b="0" u="none" dirty="0">
                        <a:solidFill>
                          <a:schemeClr val="tx1"/>
                        </a:solidFill>
                      </a:endParaRPr>
                    </a:p>
                  </a:txBody>
                  <a:tcPr marL="106219" marR="106219" marT="106219" marB="106219">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845843044"/>
                  </a:ext>
                </a:extLst>
              </a:tr>
              <a:tr h="628276">
                <a:tc>
                  <a:txBody>
                    <a:bodyPr/>
                    <a:lstStyle/>
                    <a:p>
                      <a:pPr marL="67945">
                        <a:lnSpc>
                          <a:spcPct val="107000"/>
                        </a:lnSpc>
                        <a:spcBef>
                          <a:spcPts val="10"/>
                        </a:spcBef>
                        <a:buNone/>
                      </a:pPr>
                      <a:r>
                        <a:rPr lang="en-US">
                          <a:solidFill>
                            <a:schemeClr val="tx1"/>
                          </a:solidFill>
                        </a:rPr>
                        <a:t>CO5</a:t>
                      </a:r>
                      <a:endParaRPr lang="en-IN">
                        <a:solidFill>
                          <a:schemeClr val="tx1"/>
                        </a:solidFill>
                      </a:endParaRPr>
                    </a:p>
                  </a:txBody>
                  <a:tcPr marL="106219" marR="106219" marT="106219" marB="106219">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marL="4445" algn="ctr">
                        <a:lnSpc>
                          <a:spcPct val="107000"/>
                        </a:lnSpc>
                        <a:spcBef>
                          <a:spcPts val="10"/>
                        </a:spcBef>
                        <a:buNone/>
                      </a:pPr>
                      <a:r>
                        <a:rPr lang="en-US" b="0" dirty="0">
                          <a:solidFill>
                            <a:schemeClr val="tx1"/>
                          </a:solidFill>
                        </a:rPr>
                        <a:t>2</a:t>
                      </a:r>
                      <a:endParaRPr lang="en-IN" b="0" dirty="0">
                        <a:solidFill>
                          <a:schemeClr val="tx1"/>
                        </a:solidFill>
                      </a:endParaRPr>
                    </a:p>
                  </a:txBody>
                  <a:tcPr marL="106219" marR="106219" marT="106219" marB="106219">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marL="3810" algn="ctr">
                        <a:lnSpc>
                          <a:spcPct val="107000"/>
                        </a:lnSpc>
                        <a:spcBef>
                          <a:spcPts val="10"/>
                        </a:spcBef>
                        <a:buNone/>
                      </a:pPr>
                      <a:r>
                        <a:rPr lang="en-US" b="0" dirty="0">
                          <a:solidFill>
                            <a:schemeClr val="tx1"/>
                          </a:solidFill>
                        </a:rPr>
                        <a:t>2</a:t>
                      </a:r>
                      <a:endParaRPr lang="en-IN" b="0" dirty="0">
                        <a:solidFill>
                          <a:schemeClr val="tx1"/>
                        </a:solidFill>
                      </a:endParaRPr>
                    </a:p>
                  </a:txBody>
                  <a:tcPr marL="106219" marR="106219" marT="106219" marB="106219">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marL="1905" algn="ctr">
                        <a:lnSpc>
                          <a:spcPct val="107000"/>
                        </a:lnSpc>
                        <a:spcBef>
                          <a:spcPts val="10"/>
                        </a:spcBef>
                        <a:buNone/>
                      </a:pPr>
                      <a:r>
                        <a:rPr lang="en-US" b="0" dirty="0">
                          <a:solidFill>
                            <a:schemeClr val="tx1"/>
                          </a:solidFill>
                        </a:rPr>
                        <a:t>3</a:t>
                      </a:r>
                      <a:endParaRPr lang="en-IN" b="0" dirty="0">
                        <a:solidFill>
                          <a:schemeClr val="tx1"/>
                        </a:solidFill>
                      </a:endParaRPr>
                    </a:p>
                  </a:txBody>
                  <a:tcPr marL="106219" marR="106219" marT="106219" marB="106219">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marL="3810" algn="ctr">
                        <a:lnSpc>
                          <a:spcPct val="107000"/>
                        </a:lnSpc>
                        <a:spcBef>
                          <a:spcPts val="10"/>
                        </a:spcBef>
                        <a:buNone/>
                      </a:pPr>
                      <a:r>
                        <a:rPr lang="en-US" b="0" dirty="0">
                          <a:solidFill>
                            <a:schemeClr val="tx1"/>
                          </a:solidFill>
                        </a:rPr>
                        <a:t>3</a:t>
                      </a:r>
                      <a:endParaRPr lang="en-IN" b="0" dirty="0">
                        <a:solidFill>
                          <a:schemeClr val="tx1"/>
                        </a:solidFill>
                      </a:endParaRPr>
                    </a:p>
                  </a:txBody>
                  <a:tcPr marL="106219" marR="106219" marT="106219" marB="106219">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marL="1905" algn="ctr">
                        <a:lnSpc>
                          <a:spcPct val="107000"/>
                        </a:lnSpc>
                        <a:spcBef>
                          <a:spcPts val="10"/>
                        </a:spcBef>
                        <a:buNone/>
                      </a:pPr>
                      <a:r>
                        <a:rPr lang="en-US" b="0" dirty="0">
                          <a:solidFill>
                            <a:schemeClr val="tx1"/>
                          </a:solidFill>
                        </a:rPr>
                        <a:t>3</a:t>
                      </a:r>
                      <a:endParaRPr lang="en-IN" b="0" dirty="0">
                        <a:solidFill>
                          <a:schemeClr val="tx1"/>
                        </a:solidFill>
                      </a:endParaRPr>
                    </a:p>
                  </a:txBody>
                  <a:tcPr marL="106219" marR="106219" marT="106219" marB="106219">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marL="1270" algn="ctr">
                        <a:lnSpc>
                          <a:spcPct val="107000"/>
                        </a:lnSpc>
                        <a:spcBef>
                          <a:spcPts val="10"/>
                        </a:spcBef>
                        <a:buNone/>
                      </a:pPr>
                      <a:r>
                        <a:rPr lang="en-US" b="0" dirty="0">
                          <a:solidFill>
                            <a:schemeClr val="tx1"/>
                          </a:solidFill>
                        </a:rPr>
                        <a:t>-</a:t>
                      </a:r>
                      <a:endParaRPr lang="en-IN" b="0" dirty="0">
                        <a:solidFill>
                          <a:schemeClr val="tx1"/>
                        </a:solidFill>
                      </a:endParaRPr>
                    </a:p>
                  </a:txBody>
                  <a:tcPr marL="106219" marR="106219" marT="106219" marB="106219">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noFill/>
                  </a:tcPr>
                </a:tc>
                <a:tc>
                  <a:txBody>
                    <a:bodyPr/>
                    <a:lstStyle/>
                    <a:p>
                      <a:pPr marL="1270" algn="ctr">
                        <a:lnSpc>
                          <a:spcPct val="107000"/>
                        </a:lnSpc>
                        <a:spcBef>
                          <a:spcPts val="10"/>
                        </a:spcBef>
                        <a:buNone/>
                      </a:pPr>
                      <a:r>
                        <a:rPr lang="en-US" b="0">
                          <a:solidFill>
                            <a:schemeClr val="tx1"/>
                          </a:solidFill>
                        </a:rPr>
                        <a:t>-</a:t>
                      </a:r>
                      <a:endParaRPr lang="en-IN" b="0">
                        <a:solidFill>
                          <a:schemeClr val="tx1"/>
                        </a:solidFill>
                      </a:endParaRPr>
                    </a:p>
                  </a:txBody>
                  <a:tcPr marL="106219" marR="106219" marT="106219" marB="106219">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algn="ctr">
                        <a:lnSpc>
                          <a:spcPct val="107000"/>
                        </a:lnSpc>
                        <a:spcBef>
                          <a:spcPts val="10"/>
                        </a:spcBef>
                        <a:buNone/>
                      </a:pPr>
                      <a:r>
                        <a:rPr lang="en-US" b="0" dirty="0">
                          <a:solidFill>
                            <a:schemeClr val="tx1"/>
                          </a:solidFill>
                        </a:rPr>
                        <a:t>-</a:t>
                      </a:r>
                      <a:endParaRPr lang="en-IN" b="0" dirty="0">
                        <a:solidFill>
                          <a:schemeClr val="tx1"/>
                        </a:solidFill>
                      </a:endParaRPr>
                    </a:p>
                  </a:txBody>
                  <a:tcPr marL="106219" marR="106219" marT="106219" marB="106219">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marL="3810" algn="ctr">
                        <a:lnSpc>
                          <a:spcPct val="107000"/>
                        </a:lnSpc>
                        <a:spcBef>
                          <a:spcPts val="10"/>
                        </a:spcBef>
                        <a:buNone/>
                      </a:pPr>
                      <a:r>
                        <a:rPr lang="en-US" b="0" dirty="0">
                          <a:solidFill>
                            <a:schemeClr val="tx1"/>
                          </a:solidFill>
                        </a:rPr>
                        <a:t>-</a:t>
                      </a:r>
                      <a:endParaRPr lang="en-IN" b="0" dirty="0">
                        <a:solidFill>
                          <a:schemeClr val="tx1"/>
                        </a:solidFill>
                      </a:endParaRPr>
                    </a:p>
                  </a:txBody>
                  <a:tcPr marL="106219" marR="106219" marT="106219" marB="106219">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marL="3175" algn="ctr">
                        <a:lnSpc>
                          <a:spcPct val="107000"/>
                        </a:lnSpc>
                        <a:spcBef>
                          <a:spcPts val="10"/>
                        </a:spcBef>
                        <a:buNone/>
                      </a:pPr>
                      <a:r>
                        <a:rPr lang="en-US" b="0">
                          <a:solidFill>
                            <a:schemeClr val="tx1"/>
                          </a:solidFill>
                        </a:rPr>
                        <a:t>-</a:t>
                      </a:r>
                      <a:endParaRPr lang="en-IN" b="0">
                        <a:solidFill>
                          <a:schemeClr val="tx1"/>
                        </a:solidFill>
                      </a:endParaRPr>
                    </a:p>
                  </a:txBody>
                  <a:tcPr marL="106219" marR="106219" marT="106219" marB="106219">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marR="302895" algn="r">
                        <a:lnSpc>
                          <a:spcPct val="107000"/>
                        </a:lnSpc>
                        <a:spcBef>
                          <a:spcPts val="10"/>
                        </a:spcBef>
                        <a:buNone/>
                      </a:pPr>
                      <a:r>
                        <a:rPr lang="en-US" b="0" dirty="0">
                          <a:solidFill>
                            <a:schemeClr val="tx1"/>
                          </a:solidFill>
                        </a:rPr>
                        <a:t>2</a:t>
                      </a:r>
                      <a:endParaRPr lang="en-IN" b="0" dirty="0">
                        <a:solidFill>
                          <a:schemeClr val="tx1"/>
                        </a:solidFill>
                      </a:endParaRPr>
                    </a:p>
                  </a:txBody>
                  <a:tcPr marL="106219" marR="106219" marT="106219" marB="106219">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marR="288925" algn="r">
                        <a:lnSpc>
                          <a:spcPct val="107000"/>
                        </a:lnSpc>
                        <a:spcBef>
                          <a:spcPts val="10"/>
                        </a:spcBef>
                        <a:buNone/>
                      </a:pPr>
                      <a:r>
                        <a:rPr lang="en-US" b="0" dirty="0">
                          <a:solidFill>
                            <a:schemeClr val="tx1"/>
                          </a:solidFill>
                        </a:rPr>
                        <a:t>2</a:t>
                      </a:r>
                      <a:endParaRPr lang="en-IN" b="0" dirty="0">
                        <a:solidFill>
                          <a:schemeClr val="tx1"/>
                        </a:solidFill>
                      </a:endParaRPr>
                    </a:p>
                  </a:txBody>
                  <a:tcPr marL="106219" marR="106219" marT="106219" marB="106219">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marR="394335" algn="l">
                        <a:lnSpc>
                          <a:spcPct val="107000"/>
                        </a:lnSpc>
                        <a:spcBef>
                          <a:spcPts val="10"/>
                        </a:spcBef>
                        <a:buNone/>
                      </a:pPr>
                      <a:r>
                        <a:rPr lang="en-US" b="0" dirty="0">
                          <a:solidFill>
                            <a:schemeClr val="tx1"/>
                          </a:solidFill>
                        </a:rPr>
                        <a:t>3</a:t>
                      </a:r>
                      <a:endParaRPr lang="en-IN" b="0" dirty="0">
                        <a:solidFill>
                          <a:schemeClr val="tx1"/>
                        </a:solidFill>
                      </a:endParaRPr>
                    </a:p>
                  </a:txBody>
                  <a:tcPr marL="106219" marR="106219" marT="106219" marB="106219">
                    <a:lnL w="12700" cmpd="sng">
                      <a:noFill/>
                      <a:prstDash val="solid"/>
                    </a:lnL>
                    <a:lnR w="12700" cmpd="sng">
                      <a:noFill/>
                      <a:prstDash val="solid"/>
                    </a:lnR>
                    <a:lnT w="12700" cap="flat" cmpd="sng" algn="ctr">
                      <a:solidFill>
                        <a:schemeClr val="tx1"/>
                      </a:solidFill>
                      <a:prstDash val="solid"/>
                    </a:lnT>
                    <a:lnB w="12700" cmpd="sng">
                      <a:noFill/>
                      <a:prstDash val="solid"/>
                    </a:lnB>
                    <a:noFill/>
                  </a:tcPr>
                </a:tc>
                <a:extLst>
                  <a:ext uri="{0D108BD9-81ED-4DB2-BD59-A6C34878D82A}">
                    <a16:rowId xmlns:a16="http://schemas.microsoft.com/office/drawing/2014/main" val="3956984738"/>
                  </a:ext>
                </a:extLst>
              </a:tr>
            </a:tbl>
          </a:graphicData>
        </a:graphic>
      </p:graphicFrame>
      <p:pic>
        <p:nvPicPr>
          <p:cNvPr id="6" name="Picture 5">
            <a:extLst>
              <a:ext uri="{FF2B5EF4-FFF2-40B4-BE49-F238E27FC236}">
                <a16:creationId xmlns:a16="http://schemas.microsoft.com/office/drawing/2014/main" id="{DC256E85-EC24-4BF6-5706-703E311EBC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16342" y="29026"/>
            <a:ext cx="1175657" cy="1409700"/>
          </a:xfrm>
          <a:prstGeom prst="rect">
            <a:avLst/>
          </a:prstGeom>
        </p:spPr>
      </p:pic>
    </p:spTree>
    <p:extLst>
      <p:ext uri="{BB962C8B-B14F-4D97-AF65-F5344CB8AC3E}">
        <p14:creationId xmlns:p14="http://schemas.microsoft.com/office/powerpoint/2010/main" val="4177668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EC398-BA4C-05F2-35D9-D15DBD94B329}"/>
              </a:ext>
            </a:extLst>
          </p:cNvPr>
          <p:cNvSpPr>
            <a:spLocks noGrp="1"/>
          </p:cNvSpPr>
          <p:nvPr>
            <p:ph type="title"/>
          </p:nvPr>
        </p:nvSpPr>
        <p:spPr/>
        <p:txBody>
          <a:bodyPr>
            <a:normAutofit fontScale="90000"/>
          </a:bodyPr>
          <a:lstStyle/>
          <a:p>
            <a:r>
              <a:rPr lang="en-US" dirty="0">
                <a:solidFill>
                  <a:srgbClr val="7030A0"/>
                </a:solidFill>
              </a:rPr>
              <a:t>Syllabus</a:t>
            </a:r>
            <a:endParaRPr lang="en-IN" dirty="0">
              <a:solidFill>
                <a:srgbClr val="7030A0"/>
              </a:solidFill>
            </a:endParaRPr>
          </a:p>
        </p:txBody>
      </p:sp>
      <p:graphicFrame>
        <p:nvGraphicFramePr>
          <p:cNvPr id="3" name="Table 2">
            <a:extLst>
              <a:ext uri="{FF2B5EF4-FFF2-40B4-BE49-F238E27FC236}">
                <a16:creationId xmlns:a16="http://schemas.microsoft.com/office/drawing/2014/main" id="{728990A5-A975-517A-DE4F-C65243C72474}"/>
              </a:ext>
            </a:extLst>
          </p:cNvPr>
          <p:cNvGraphicFramePr>
            <a:graphicFrameLocks noGrp="1"/>
          </p:cNvGraphicFramePr>
          <p:nvPr>
            <p:extLst>
              <p:ext uri="{D42A27DB-BD31-4B8C-83A1-F6EECF244321}">
                <p14:modId xmlns:p14="http://schemas.microsoft.com/office/powerpoint/2010/main" val="4243181584"/>
              </p:ext>
            </p:extLst>
          </p:nvPr>
        </p:nvGraphicFramePr>
        <p:xfrm>
          <a:off x="936171" y="806986"/>
          <a:ext cx="10319657" cy="4784263"/>
        </p:xfrm>
        <a:graphic>
          <a:graphicData uri="http://schemas.openxmlformats.org/drawingml/2006/table">
            <a:tbl>
              <a:tblPr firstRow="1" firstCol="1" bandRow="1">
                <a:tableStyleId>{5C22544A-7EE6-4342-B048-85BDC9FD1C3A}</a:tableStyleId>
              </a:tblPr>
              <a:tblGrid>
                <a:gridCol w="1584958">
                  <a:extLst>
                    <a:ext uri="{9D8B030D-6E8A-4147-A177-3AD203B41FA5}">
                      <a16:colId xmlns:a16="http://schemas.microsoft.com/office/drawing/2014/main" val="678079389"/>
                    </a:ext>
                  </a:extLst>
                </a:gridCol>
                <a:gridCol w="8734699">
                  <a:extLst>
                    <a:ext uri="{9D8B030D-6E8A-4147-A177-3AD203B41FA5}">
                      <a16:colId xmlns:a16="http://schemas.microsoft.com/office/drawing/2014/main" val="3108796819"/>
                    </a:ext>
                  </a:extLst>
                </a:gridCol>
              </a:tblGrid>
              <a:tr h="347697">
                <a:tc>
                  <a:txBody>
                    <a:bodyPr/>
                    <a:lstStyle/>
                    <a:p>
                      <a:pPr marL="143510" indent="-6350" algn="ctr">
                        <a:lnSpc>
                          <a:spcPct val="115000"/>
                        </a:lnSpc>
                        <a:spcAft>
                          <a:spcPts val="20"/>
                        </a:spcAft>
                        <a:buNone/>
                      </a:pPr>
                      <a:r>
                        <a:rPr lang="en-IN" sz="2000" dirty="0">
                          <a:effectLst/>
                          <a:latin typeface="Times New Roman" panose="02020603050405020304" pitchFamily="18" charset="0"/>
                          <a:cs typeface="Times New Roman" panose="02020603050405020304" pitchFamily="18" charset="0"/>
                        </a:rPr>
                        <a:t>UNIT </a:t>
                      </a:r>
                      <a:endPar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tc>
                <a:tc>
                  <a:txBody>
                    <a:bodyPr/>
                    <a:lstStyle/>
                    <a:p>
                      <a:pPr marL="1176655" indent="-6350" algn="ctr">
                        <a:lnSpc>
                          <a:spcPct val="115000"/>
                        </a:lnSpc>
                        <a:spcAft>
                          <a:spcPts val="20"/>
                        </a:spcAft>
                        <a:buNone/>
                      </a:pPr>
                      <a:r>
                        <a:rPr lang="en-IN" sz="2000" dirty="0">
                          <a:effectLst/>
                          <a:latin typeface="Times New Roman" panose="02020603050405020304" pitchFamily="18" charset="0"/>
                          <a:cs typeface="Times New Roman" panose="02020603050405020304" pitchFamily="18" charset="0"/>
                        </a:rPr>
                        <a:t>CONTENTS </a:t>
                      </a:r>
                      <a:endPar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tc>
                <a:extLst>
                  <a:ext uri="{0D108BD9-81ED-4DB2-BD59-A6C34878D82A}">
                    <a16:rowId xmlns:a16="http://schemas.microsoft.com/office/drawing/2014/main" val="1232259851"/>
                  </a:ext>
                </a:extLst>
              </a:tr>
              <a:tr h="1338146">
                <a:tc>
                  <a:txBody>
                    <a:bodyPr/>
                    <a:lstStyle/>
                    <a:p>
                      <a:pPr indent="-6350" algn="ctr">
                        <a:lnSpc>
                          <a:spcPct val="115000"/>
                        </a:lnSpc>
                        <a:spcAft>
                          <a:spcPts val="20"/>
                        </a:spcAft>
                        <a:buNone/>
                      </a:pPr>
                      <a:r>
                        <a:rPr lang="en-IN" sz="2000" dirty="0">
                          <a:effectLst/>
                          <a:latin typeface="Times New Roman" panose="02020603050405020304" pitchFamily="18" charset="0"/>
                          <a:cs typeface="Times New Roman" panose="02020603050405020304" pitchFamily="18" charset="0"/>
                        </a:rPr>
                        <a:t>I </a:t>
                      </a:r>
                      <a:endPar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tc>
                <a:tc>
                  <a:txBody>
                    <a:bodyPr/>
                    <a:lstStyle/>
                    <a:p>
                      <a:pPr algn="just">
                        <a:spcBef>
                          <a:spcPts val="340"/>
                        </a:spcBef>
                        <a:buNone/>
                      </a:pPr>
                      <a:r>
                        <a:rPr lang="en-US" sz="1900" b="1" dirty="0">
                          <a:latin typeface="Times New Roman" panose="02020603050405020304" pitchFamily="18" charset="0"/>
                          <a:cs typeface="Times New Roman" panose="02020603050405020304" pitchFamily="18" charset="0"/>
                        </a:rPr>
                        <a:t>Introduction</a:t>
                      </a:r>
                    </a:p>
                    <a:p>
                      <a:pPr algn="just">
                        <a:spcBef>
                          <a:spcPts val="340"/>
                        </a:spcBef>
                        <a:buNone/>
                      </a:pPr>
                      <a:r>
                        <a:rPr lang="en-US" sz="2000" dirty="0">
                          <a:latin typeface="Times New Roman" panose="02020603050405020304" pitchFamily="18" charset="0"/>
                          <a:cs typeface="Times New Roman" panose="02020603050405020304" pitchFamily="18" charset="0"/>
                        </a:rPr>
                        <a:t>What is Tableau? Terminology, Tableau v/s Excel, Applications and key factors, Data-types, views of data and records, Measure, Dimension, Discrete and Continuous.</a:t>
                      </a:r>
                      <a:endParaRPr lang="en-IN" sz="1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tc>
                <a:extLst>
                  <a:ext uri="{0D108BD9-81ED-4DB2-BD59-A6C34878D82A}">
                    <a16:rowId xmlns:a16="http://schemas.microsoft.com/office/drawing/2014/main" val="2078843633"/>
                  </a:ext>
                </a:extLst>
              </a:tr>
              <a:tr h="1339354">
                <a:tc>
                  <a:txBody>
                    <a:bodyPr/>
                    <a:lstStyle/>
                    <a:p>
                      <a:pPr indent="-6350" algn="ctr">
                        <a:lnSpc>
                          <a:spcPct val="115000"/>
                        </a:lnSpc>
                        <a:spcAft>
                          <a:spcPts val="20"/>
                        </a:spcAft>
                        <a:buNone/>
                      </a:pPr>
                      <a:r>
                        <a:rPr lang="en-IN" sz="2000" dirty="0">
                          <a:effectLst/>
                          <a:latin typeface="Times New Roman" panose="02020603050405020304" pitchFamily="18" charset="0"/>
                          <a:cs typeface="Times New Roman" panose="02020603050405020304" pitchFamily="18" charset="0"/>
                        </a:rPr>
                        <a:t>II </a:t>
                      </a:r>
                      <a:endPar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tc>
                <a:tc>
                  <a:txBody>
                    <a:bodyPr/>
                    <a:lstStyle/>
                    <a:p>
                      <a:pPr indent="-6350" algn="just">
                        <a:lnSpc>
                          <a:spcPct val="115000"/>
                        </a:lnSpc>
                        <a:spcAft>
                          <a:spcPts val="20"/>
                        </a:spcAft>
                        <a:buNone/>
                      </a:pPr>
                      <a:r>
                        <a:rPr lang="en-IN" sz="2000" b="1" dirty="0">
                          <a:latin typeface="Times New Roman" panose="02020603050405020304" pitchFamily="18" charset="0"/>
                          <a:cs typeface="Times New Roman" panose="02020603050405020304" pitchFamily="18" charset="0"/>
                        </a:rPr>
                        <a:t>Organizing and Simplifying Data</a:t>
                      </a:r>
                      <a:r>
                        <a:rPr lang="en-IN" sz="1900" b="1" dirty="0">
                          <a:latin typeface="Times New Roman" panose="02020603050405020304" pitchFamily="18" charset="0"/>
                          <a:cs typeface="Times New Roman" panose="02020603050405020304" pitchFamily="18" charset="0"/>
                        </a:rPr>
                        <a:t> </a:t>
                      </a:r>
                    </a:p>
                    <a:p>
                      <a:pPr indent="-6350" algn="just">
                        <a:lnSpc>
                          <a:spcPct val="115000"/>
                        </a:lnSpc>
                        <a:spcAft>
                          <a:spcPts val="20"/>
                        </a:spcAft>
                        <a:buNone/>
                      </a:pPr>
                      <a:r>
                        <a:rPr lang="en-IN" sz="2000" dirty="0">
                          <a:latin typeface="Times New Roman" panose="02020603050405020304" pitchFamily="18" charset="0"/>
                          <a:cs typeface="Times New Roman" panose="02020603050405020304" pitchFamily="18" charset="0"/>
                        </a:rPr>
                        <a:t>Drill down and hierarchies, Sorting, Grouping, Parameters, Combine, Sets, Title, Caption, Exporting, Granularity, Worksheet Interface, Managing Metadata, Dashboard, Tableau bins: fixed and variable.</a:t>
                      </a:r>
                      <a:r>
                        <a:rPr lang="en-IN" sz="1900" dirty="0">
                          <a:latin typeface="Times New Roman" panose="02020603050405020304" pitchFamily="18" charset="0"/>
                          <a:cs typeface="Times New Roman" panose="02020603050405020304" pitchFamily="18" charset="0"/>
                        </a:rPr>
                        <a:t> </a:t>
                      </a:r>
                      <a:endParaRPr lang="en-IN" sz="1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tc>
                <a:extLst>
                  <a:ext uri="{0D108BD9-81ED-4DB2-BD59-A6C34878D82A}">
                    <a16:rowId xmlns:a16="http://schemas.microsoft.com/office/drawing/2014/main" val="1296256059"/>
                  </a:ext>
                </a:extLst>
              </a:tr>
              <a:tr h="1646177">
                <a:tc>
                  <a:txBody>
                    <a:bodyPr/>
                    <a:lstStyle/>
                    <a:p>
                      <a:pPr indent="-6350" algn="ctr">
                        <a:lnSpc>
                          <a:spcPct val="115000"/>
                        </a:lnSpc>
                        <a:spcAft>
                          <a:spcPts val="20"/>
                        </a:spcAft>
                        <a:buNone/>
                      </a:pPr>
                      <a:r>
                        <a:rPr lang="en-IN" sz="2000" dirty="0">
                          <a:effectLst/>
                          <a:latin typeface="Times New Roman" panose="02020603050405020304" pitchFamily="18" charset="0"/>
                          <a:cs typeface="Times New Roman" panose="02020603050405020304" pitchFamily="18" charset="0"/>
                        </a:rPr>
                        <a:t>III </a:t>
                      </a:r>
                      <a:endPar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tc>
                <a:tc>
                  <a:txBody>
                    <a:bodyPr/>
                    <a:lstStyle/>
                    <a:p>
                      <a:pPr indent="-6350" algn="just">
                        <a:lnSpc>
                          <a:spcPct val="115000"/>
                        </a:lnSpc>
                        <a:spcAft>
                          <a:spcPts val="20"/>
                        </a:spcAft>
                        <a:buNone/>
                      </a:pPr>
                      <a:r>
                        <a:rPr lang="en-IN" sz="2000" b="1" dirty="0">
                          <a:latin typeface="Times New Roman" panose="02020603050405020304" pitchFamily="18" charset="0"/>
                          <a:cs typeface="Times New Roman" panose="02020603050405020304" pitchFamily="18" charset="0"/>
                        </a:rPr>
                        <a:t>Data Connections in Tableau</a:t>
                      </a:r>
                      <a:r>
                        <a:rPr lang="en-US" sz="1900" b="1" dirty="0">
                          <a:latin typeface="Times New Roman" panose="02020603050405020304" pitchFamily="18" charset="0"/>
                          <a:cs typeface="Times New Roman" panose="02020603050405020304" pitchFamily="18" charset="0"/>
                        </a:rPr>
                        <a:t> </a:t>
                      </a:r>
                    </a:p>
                    <a:p>
                      <a:pPr indent="-6350" algn="just">
                        <a:lnSpc>
                          <a:spcPct val="115000"/>
                        </a:lnSpc>
                        <a:spcAft>
                          <a:spcPts val="20"/>
                        </a:spcAft>
                        <a:buNone/>
                      </a:pPr>
                      <a:r>
                        <a:rPr lang="en-IN" sz="2000" dirty="0">
                          <a:latin typeface="Times New Roman" panose="02020603050405020304" pitchFamily="18" charset="0"/>
                          <a:cs typeface="Times New Roman" panose="02020603050405020304" pitchFamily="18" charset="0"/>
                        </a:rPr>
                        <a:t>Connecting to tableau server, Join and types of join, Data Blending, Joining v/s Blending, Filters, size,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label, tooltip, shapes, detail, font, alignment, shading, borders, calculations, Number and String functions, Logical function, conditional formatting, Rank.</a:t>
                      </a:r>
                      <a:endParaRPr lang="en-IN" sz="1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tc>
                <a:extLst>
                  <a:ext uri="{0D108BD9-81ED-4DB2-BD59-A6C34878D82A}">
                    <a16:rowId xmlns:a16="http://schemas.microsoft.com/office/drawing/2014/main" val="2398310611"/>
                  </a:ext>
                </a:extLst>
              </a:tr>
            </a:tbl>
          </a:graphicData>
        </a:graphic>
      </p:graphicFrame>
      <p:pic>
        <p:nvPicPr>
          <p:cNvPr id="4" name="Picture 3">
            <a:extLst>
              <a:ext uri="{FF2B5EF4-FFF2-40B4-BE49-F238E27FC236}">
                <a16:creationId xmlns:a16="http://schemas.microsoft.com/office/drawing/2014/main" id="{F98F4213-0E51-EDCD-EA20-16F7521AA2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82300" y="29026"/>
            <a:ext cx="1409700" cy="777960"/>
          </a:xfrm>
          <a:prstGeom prst="rect">
            <a:avLst/>
          </a:prstGeom>
        </p:spPr>
      </p:pic>
    </p:spTree>
    <p:extLst>
      <p:ext uri="{BB962C8B-B14F-4D97-AF65-F5344CB8AC3E}">
        <p14:creationId xmlns:p14="http://schemas.microsoft.com/office/powerpoint/2010/main" val="2974247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55D6037-CEA2-34F2-34CD-DB854F51EDD6}"/>
              </a:ext>
            </a:extLst>
          </p:cNvPr>
          <p:cNvSpPr>
            <a:spLocks noGrp="1"/>
          </p:cNvSpPr>
          <p:nvPr>
            <p:ph type="title"/>
          </p:nvPr>
        </p:nvSpPr>
        <p:spPr>
          <a:xfrm>
            <a:off x="838200" y="136525"/>
            <a:ext cx="10515600" cy="670461"/>
          </a:xfrm>
        </p:spPr>
        <p:txBody>
          <a:bodyPr>
            <a:normAutofit fontScale="90000"/>
          </a:bodyPr>
          <a:lstStyle/>
          <a:p>
            <a:r>
              <a:rPr lang="en-US" dirty="0"/>
              <a:t>Syllabus</a:t>
            </a:r>
            <a:endParaRPr lang="en-IN" dirty="0"/>
          </a:p>
        </p:txBody>
      </p:sp>
      <p:graphicFrame>
        <p:nvGraphicFramePr>
          <p:cNvPr id="5" name="Table 4">
            <a:extLst>
              <a:ext uri="{FF2B5EF4-FFF2-40B4-BE49-F238E27FC236}">
                <a16:creationId xmlns:a16="http://schemas.microsoft.com/office/drawing/2014/main" id="{E956A79E-D4C2-F5BD-A96D-F678F8FCAC59}"/>
              </a:ext>
            </a:extLst>
          </p:cNvPr>
          <p:cNvGraphicFramePr>
            <a:graphicFrameLocks noGrp="1"/>
          </p:cNvGraphicFramePr>
          <p:nvPr>
            <p:extLst>
              <p:ext uri="{D42A27DB-BD31-4B8C-83A1-F6EECF244321}">
                <p14:modId xmlns:p14="http://schemas.microsoft.com/office/powerpoint/2010/main" val="242998348"/>
              </p:ext>
            </p:extLst>
          </p:nvPr>
        </p:nvGraphicFramePr>
        <p:xfrm>
          <a:off x="598714" y="948265"/>
          <a:ext cx="11180202" cy="3222168"/>
        </p:xfrm>
        <a:graphic>
          <a:graphicData uri="http://schemas.openxmlformats.org/drawingml/2006/table">
            <a:tbl>
              <a:tblPr firstRow="1" bandRow="1">
                <a:tableStyleId>{5C22544A-7EE6-4342-B048-85BDC9FD1C3A}</a:tableStyleId>
              </a:tblPr>
              <a:tblGrid>
                <a:gridCol w="1373450">
                  <a:extLst>
                    <a:ext uri="{9D8B030D-6E8A-4147-A177-3AD203B41FA5}">
                      <a16:colId xmlns:a16="http://schemas.microsoft.com/office/drawing/2014/main" val="107159738"/>
                    </a:ext>
                  </a:extLst>
                </a:gridCol>
                <a:gridCol w="9806752">
                  <a:extLst>
                    <a:ext uri="{9D8B030D-6E8A-4147-A177-3AD203B41FA5}">
                      <a16:colId xmlns:a16="http://schemas.microsoft.com/office/drawing/2014/main" val="3079769334"/>
                    </a:ext>
                  </a:extLst>
                </a:gridCol>
              </a:tblGrid>
              <a:tr h="482994">
                <a:tc>
                  <a:txBody>
                    <a:bodyPr/>
                    <a:lstStyle/>
                    <a:p>
                      <a:pPr algn="ctr"/>
                      <a:r>
                        <a:rPr lang="en-IN" sz="2000" dirty="0">
                          <a:latin typeface="Times New Roman" panose="02020603050405020304" pitchFamily="18" charset="0"/>
                          <a:cs typeface="Times New Roman" panose="02020603050405020304" pitchFamily="18" charset="0"/>
                        </a:rPr>
                        <a:t>UNIT</a:t>
                      </a:r>
                    </a:p>
                  </a:txBody>
                  <a:tcPr/>
                </a:tc>
                <a:tc>
                  <a:txBody>
                    <a:bodyPr/>
                    <a:lstStyle/>
                    <a:p>
                      <a:pPr algn="ctr"/>
                      <a:r>
                        <a:rPr lang="en-IN" sz="2000" dirty="0">
                          <a:latin typeface="Times New Roman" panose="02020603050405020304" pitchFamily="18" charset="0"/>
                          <a:cs typeface="Times New Roman" panose="02020603050405020304" pitchFamily="18" charset="0"/>
                        </a:rPr>
                        <a:t>CONTENTS</a:t>
                      </a:r>
                    </a:p>
                  </a:txBody>
                  <a:tcPr/>
                </a:tc>
                <a:extLst>
                  <a:ext uri="{0D108BD9-81ED-4DB2-BD59-A6C34878D82A}">
                    <a16:rowId xmlns:a16="http://schemas.microsoft.com/office/drawing/2014/main" val="3486014164"/>
                  </a:ext>
                </a:extLst>
              </a:tr>
              <a:tr h="1548229">
                <a:tc>
                  <a:txBody>
                    <a:bodyPr/>
                    <a:lstStyle/>
                    <a:p>
                      <a:pPr indent="-6350" algn="ctr">
                        <a:lnSpc>
                          <a:spcPct val="115000"/>
                        </a:lnSpc>
                        <a:spcAft>
                          <a:spcPts val="20"/>
                        </a:spcAft>
                        <a:buNone/>
                      </a:pPr>
                      <a:r>
                        <a:rPr lang="en-IN" sz="2000" dirty="0">
                          <a:effectLst/>
                          <a:latin typeface="Times New Roman" panose="02020603050405020304" pitchFamily="18" charset="0"/>
                          <a:cs typeface="Times New Roman" panose="02020603050405020304" pitchFamily="18" charset="0"/>
                        </a:rPr>
                        <a:t>IV </a:t>
                      </a:r>
                      <a:endPar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tc>
                <a:tc>
                  <a:txBody>
                    <a:bodyPr/>
                    <a:lstStyle/>
                    <a:p>
                      <a:pPr indent="-6350" algn="just">
                        <a:lnSpc>
                          <a:spcPct val="115000"/>
                        </a:lnSpc>
                        <a:spcAft>
                          <a:spcPts val="20"/>
                        </a:spcAft>
                        <a:buNone/>
                      </a:pPr>
                      <a:r>
                        <a:rPr lang="en-IN" sz="2000" b="1" dirty="0">
                          <a:latin typeface="Times New Roman" panose="02020603050405020304" pitchFamily="18" charset="0"/>
                          <a:cs typeface="Times New Roman" panose="02020603050405020304" pitchFamily="18" charset="0"/>
                        </a:rPr>
                        <a:t>Charts and Maps</a:t>
                      </a:r>
                      <a:r>
                        <a:rPr lang="en-US" sz="2000" b="1" dirty="0">
                          <a:latin typeface="Times New Roman" panose="02020603050405020304" pitchFamily="18" charset="0"/>
                          <a:cs typeface="Times New Roman" panose="02020603050405020304" pitchFamily="18" charset="0"/>
                        </a:rPr>
                        <a:t> </a:t>
                      </a:r>
                    </a:p>
                    <a:p>
                      <a:pPr indent="-6350" algn="just">
                        <a:lnSpc>
                          <a:spcPct val="115000"/>
                        </a:lnSpc>
                        <a:spcAft>
                          <a:spcPts val="20"/>
                        </a:spcAft>
                        <a:buNone/>
                      </a:pPr>
                      <a:r>
                        <a:rPr lang="en-US" sz="2000" dirty="0">
                          <a:latin typeface="Times New Roman" panose="02020603050405020304" pitchFamily="18" charset="0"/>
                          <a:cs typeface="Times New Roman" panose="02020603050405020304" pitchFamily="18" charset="0"/>
                        </a:rPr>
                        <a:t>Introduction to Chart, Scatter charts, Line charts, Reference lines, Bubble chart, Bar chart, Stacked chart, Pie chart, Bump chart, Funnel chart, Waterfall chart, Chart Linking Techniques. Introduction to Maps, Map options, Map layers, Word maps, Tree maps.</a:t>
                      </a:r>
                      <a:endPar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tc>
                <a:extLst>
                  <a:ext uri="{0D108BD9-81ED-4DB2-BD59-A6C34878D82A}">
                    <a16:rowId xmlns:a16="http://schemas.microsoft.com/office/drawing/2014/main" val="119662223"/>
                  </a:ext>
                </a:extLst>
              </a:tr>
              <a:tr h="1190945">
                <a:tc>
                  <a:txBody>
                    <a:bodyPr/>
                    <a:lstStyle/>
                    <a:p>
                      <a:pPr indent="-6350" algn="ctr">
                        <a:lnSpc>
                          <a:spcPct val="115000"/>
                        </a:lnSpc>
                        <a:spcAft>
                          <a:spcPts val="20"/>
                        </a:spcAft>
                        <a:buNone/>
                      </a:pPr>
                      <a:r>
                        <a:rPr lang="en-IN" sz="2000">
                          <a:effectLst/>
                          <a:latin typeface="Times New Roman" panose="02020603050405020304" pitchFamily="18" charset="0"/>
                          <a:cs typeface="Times New Roman" panose="02020603050405020304" pitchFamily="18" charset="0"/>
                        </a:rPr>
                        <a:t>V </a:t>
                      </a:r>
                      <a:endParaRPr lang="en-IN" sz="2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tc>
                <a:tc>
                  <a:txBody>
                    <a:bodyPr/>
                    <a:lstStyle/>
                    <a:p>
                      <a:pPr marR="99695" algn="just">
                        <a:lnSpc>
                          <a:spcPct val="115000"/>
                        </a:lnSpc>
                        <a:spcBef>
                          <a:spcPts val="460"/>
                        </a:spcBef>
                        <a:buNone/>
                      </a:pPr>
                      <a:r>
                        <a:rPr lang="en-US" sz="2000" b="1" dirty="0">
                          <a:latin typeface="Times New Roman" panose="02020603050405020304" pitchFamily="18" charset="0"/>
                          <a:cs typeface="Times New Roman" panose="02020603050405020304" pitchFamily="18" charset="0"/>
                        </a:rPr>
                        <a:t>Use Cases</a:t>
                      </a:r>
                    </a:p>
                    <a:p>
                      <a:pPr marR="99695" algn="just">
                        <a:lnSpc>
                          <a:spcPct val="115000"/>
                        </a:lnSpc>
                        <a:spcBef>
                          <a:spcPts val="460"/>
                        </a:spcBef>
                        <a:buNone/>
                      </a:pPr>
                      <a:r>
                        <a:rPr lang="en-US" sz="2000" dirty="0">
                          <a:latin typeface="Times New Roman" panose="02020603050405020304" pitchFamily="18" charset="0"/>
                          <a:cs typeface="Times New Roman" panose="02020603050405020304" pitchFamily="18" charset="0"/>
                        </a:rPr>
                        <a:t>Custom Territories, Custom Geocoding, Religion Wise population, National Park, Highlighting and Actions, Publishing Reports, Dashboard Designing, Interacting with Tableau online.</a:t>
                      </a:r>
                      <a:endPar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tc>
                <a:extLst>
                  <a:ext uri="{0D108BD9-81ED-4DB2-BD59-A6C34878D82A}">
                    <a16:rowId xmlns:a16="http://schemas.microsoft.com/office/drawing/2014/main" val="1146081325"/>
                  </a:ext>
                </a:extLst>
              </a:tr>
            </a:tbl>
          </a:graphicData>
        </a:graphic>
      </p:graphicFrame>
      <p:pic>
        <p:nvPicPr>
          <p:cNvPr id="2" name="Picture 1">
            <a:extLst>
              <a:ext uri="{FF2B5EF4-FFF2-40B4-BE49-F238E27FC236}">
                <a16:creationId xmlns:a16="http://schemas.microsoft.com/office/drawing/2014/main" id="{2355075D-1E2E-76B8-74AC-7C74329904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82300" y="29026"/>
            <a:ext cx="1409700" cy="919239"/>
          </a:xfrm>
          <a:prstGeom prst="rect">
            <a:avLst/>
          </a:prstGeom>
        </p:spPr>
      </p:pic>
    </p:spTree>
    <p:extLst>
      <p:ext uri="{BB962C8B-B14F-4D97-AF65-F5344CB8AC3E}">
        <p14:creationId xmlns:p14="http://schemas.microsoft.com/office/powerpoint/2010/main" val="2313607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B63FD-E942-0B48-658A-EAE0E61ADB31}"/>
              </a:ext>
            </a:extLst>
          </p:cNvPr>
          <p:cNvSpPr>
            <a:spLocks noGrp="1"/>
          </p:cNvSpPr>
          <p:nvPr>
            <p:ph type="title"/>
          </p:nvPr>
        </p:nvSpPr>
        <p:spPr/>
        <p:txBody>
          <a:bodyPr>
            <a:normAutofit fontScale="90000"/>
          </a:bodyPr>
          <a:lstStyle/>
          <a:p>
            <a:r>
              <a:rPr lang="en-IN" dirty="0">
                <a:solidFill>
                  <a:srgbClr val="7030A0"/>
                </a:solidFill>
              </a:rPr>
              <a:t>Study Material</a:t>
            </a:r>
          </a:p>
        </p:txBody>
      </p:sp>
      <p:graphicFrame>
        <p:nvGraphicFramePr>
          <p:cNvPr id="3" name="Table 2">
            <a:extLst>
              <a:ext uri="{FF2B5EF4-FFF2-40B4-BE49-F238E27FC236}">
                <a16:creationId xmlns:a16="http://schemas.microsoft.com/office/drawing/2014/main" id="{5F9CAD29-16EF-C506-D676-CFF7FE5CE109}"/>
              </a:ext>
            </a:extLst>
          </p:cNvPr>
          <p:cNvGraphicFramePr>
            <a:graphicFrameLocks noGrp="1"/>
          </p:cNvGraphicFramePr>
          <p:nvPr>
            <p:extLst>
              <p:ext uri="{D42A27DB-BD31-4B8C-83A1-F6EECF244321}">
                <p14:modId xmlns:p14="http://schemas.microsoft.com/office/powerpoint/2010/main" val="2707358937"/>
              </p:ext>
            </p:extLst>
          </p:nvPr>
        </p:nvGraphicFramePr>
        <p:xfrm>
          <a:off x="653143" y="1328056"/>
          <a:ext cx="10907487" cy="2225637"/>
        </p:xfrm>
        <a:graphic>
          <a:graphicData uri="http://schemas.openxmlformats.org/drawingml/2006/table">
            <a:tbl>
              <a:tblPr firstRow="1" firstCol="1" bandRow="1">
                <a:tableStyleId>{5C22544A-7EE6-4342-B048-85BDC9FD1C3A}</a:tableStyleId>
              </a:tblPr>
              <a:tblGrid>
                <a:gridCol w="1185936">
                  <a:extLst>
                    <a:ext uri="{9D8B030D-6E8A-4147-A177-3AD203B41FA5}">
                      <a16:colId xmlns:a16="http://schemas.microsoft.com/office/drawing/2014/main" val="4002078241"/>
                    </a:ext>
                  </a:extLst>
                </a:gridCol>
                <a:gridCol w="9721551">
                  <a:extLst>
                    <a:ext uri="{9D8B030D-6E8A-4147-A177-3AD203B41FA5}">
                      <a16:colId xmlns:a16="http://schemas.microsoft.com/office/drawing/2014/main" val="1705777909"/>
                    </a:ext>
                  </a:extLst>
                </a:gridCol>
              </a:tblGrid>
              <a:tr h="812930">
                <a:tc>
                  <a:txBody>
                    <a:bodyPr/>
                    <a:lstStyle/>
                    <a:p>
                      <a:pPr marL="1270" indent="-1270" algn="ctr">
                        <a:lnSpc>
                          <a:spcPct val="115000"/>
                        </a:lnSpc>
                        <a:spcAft>
                          <a:spcPts val="20"/>
                        </a:spcAft>
                        <a:buNone/>
                      </a:pPr>
                      <a:r>
                        <a:rPr lang="en-IN" sz="2000" dirty="0">
                          <a:effectLst/>
                          <a:latin typeface="Times New Roman" panose="02020603050405020304" pitchFamily="18" charset="0"/>
                          <a:cs typeface="Times New Roman" panose="02020603050405020304" pitchFamily="18" charset="0"/>
                        </a:rPr>
                        <a:t>Text Books </a:t>
                      </a:r>
                      <a:endPar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tc>
                <a:tc>
                  <a:txBody>
                    <a:bodyPr/>
                    <a:lstStyle/>
                    <a:p>
                      <a:pPr marL="0" lvl="0" indent="0" algn="just">
                        <a:lnSpc>
                          <a:spcPct val="100000"/>
                        </a:lnSpc>
                        <a:buSzPts val="1100"/>
                        <a:buFont typeface="Times New Roman" panose="02020603050405020304" pitchFamily="18" charset="0"/>
                        <a:buNone/>
                        <a:tabLst>
                          <a:tab pos="182880" algn="l"/>
                        </a:tabLst>
                      </a:pPr>
                      <a:r>
                        <a:rPr lang="en-US" sz="2000" dirty="0">
                          <a:effectLst/>
                          <a:latin typeface="Times New Roman" panose="02020603050405020304" pitchFamily="18" charset="0"/>
                          <a:cs typeface="Times New Roman" panose="02020603050405020304" pitchFamily="18" charset="0"/>
                        </a:rPr>
                        <a:t>1. </a:t>
                      </a:r>
                      <a:r>
                        <a:rPr lang="en-IN" sz="2000" dirty="0">
                          <a:latin typeface="Times New Roman" panose="02020603050405020304" pitchFamily="18" charset="0"/>
                          <a:cs typeface="Times New Roman" panose="02020603050405020304" pitchFamily="18" charset="0"/>
                        </a:rPr>
                        <a:t>Tableau 10 for beginners, version: 10.x, </a:t>
                      </a:r>
                      <a:r>
                        <a:rPr lang="en-IN" sz="2000" dirty="0" err="1">
                          <a:latin typeface="Times New Roman" panose="02020603050405020304" pitchFamily="18" charset="0"/>
                          <a:cs typeface="Times New Roman" panose="02020603050405020304" pitchFamily="18" charset="0"/>
                        </a:rPr>
                        <a:t>Chandraish</a:t>
                      </a:r>
                      <a:r>
                        <a:rPr lang="en-IN" sz="2000" dirty="0">
                          <a:latin typeface="Times New Roman" panose="02020603050405020304" pitchFamily="18" charset="0"/>
                          <a:cs typeface="Times New Roman" panose="02020603050405020304" pitchFamily="18" charset="0"/>
                        </a:rPr>
                        <a:t> Sinha</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nchor="ctr"/>
                </a:tc>
                <a:extLst>
                  <a:ext uri="{0D108BD9-81ED-4DB2-BD59-A6C34878D82A}">
                    <a16:rowId xmlns:a16="http://schemas.microsoft.com/office/drawing/2014/main" val="1842249567"/>
                  </a:ext>
                </a:extLst>
              </a:tr>
              <a:tr h="966991">
                <a:tc rowSpan="2">
                  <a:txBody>
                    <a:bodyPr/>
                    <a:lstStyle/>
                    <a:p>
                      <a:pPr indent="-6350" algn="ctr">
                        <a:lnSpc>
                          <a:spcPct val="115000"/>
                        </a:lnSpc>
                        <a:spcAft>
                          <a:spcPts val="20"/>
                        </a:spcAft>
                        <a:buNone/>
                      </a:pPr>
                      <a:endParaRPr lang="en-IN" sz="2000" dirty="0">
                        <a:effectLst/>
                        <a:latin typeface="Times New Roman" panose="02020603050405020304" pitchFamily="18" charset="0"/>
                        <a:cs typeface="Times New Roman" panose="02020603050405020304" pitchFamily="18" charset="0"/>
                      </a:endParaRPr>
                    </a:p>
                    <a:p>
                      <a:pPr indent="-6350" algn="ctr">
                        <a:lnSpc>
                          <a:spcPct val="115000"/>
                        </a:lnSpc>
                        <a:spcAft>
                          <a:spcPts val="20"/>
                        </a:spcAft>
                        <a:buNone/>
                      </a:pPr>
                      <a:r>
                        <a:rPr lang="en-IN" sz="2000" dirty="0">
                          <a:effectLst/>
                          <a:latin typeface="Times New Roman" panose="02020603050405020304" pitchFamily="18" charset="0"/>
                          <a:cs typeface="Times New Roman" panose="02020603050405020304" pitchFamily="18" charset="0"/>
                        </a:rPr>
                        <a:t>Online TL Material</a:t>
                      </a:r>
                      <a:endPar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tc>
                <a:tc>
                  <a:txBody>
                    <a:bodyPr/>
                    <a:lstStyle/>
                    <a:p>
                      <a:pPr marL="0" marR="229870" lvl="0" indent="0" algn="just">
                        <a:buSzPts val="1200"/>
                        <a:buFont typeface="Times New Roman" panose="02020603050405020304" pitchFamily="18" charset="0"/>
                        <a:buNone/>
                        <a:tabLst>
                          <a:tab pos="219075" algn="l"/>
                        </a:tabLst>
                      </a:pPr>
                      <a:r>
                        <a:rPr lang="en-US" sz="2000" dirty="0">
                          <a:effectLst/>
                          <a:latin typeface="Times New Roman" panose="02020603050405020304" pitchFamily="18" charset="0"/>
                          <a:cs typeface="Times New Roman" panose="02020603050405020304" pitchFamily="18" charset="0"/>
                        </a:rPr>
                        <a:t>http://www.udemy.com/big-data-hadoop-the-complete-course/</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nchor="ctr"/>
                </a:tc>
                <a:extLst>
                  <a:ext uri="{0D108BD9-81ED-4DB2-BD59-A6C34878D82A}">
                    <a16:rowId xmlns:a16="http://schemas.microsoft.com/office/drawing/2014/main" val="1829206890"/>
                  </a:ext>
                </a:extLst>
              </a:tr>
              <a:tr h="445716">
                <a:tc vMerge="1">
                  <a:txBody>
                    <a:bodyPr/>
                    <a:lstStyle/>
                    <a:p>
                      <a:endParaRPr lang="en-IN"/>
                    </a:p>
                  </a:txBody>
                  <a:tcPr/>
                </a:tc>
                <a:tc>
                  <a:txBody>
                    <a:bodyPr/>
                    <a:lstStyle/>
                    <a:p>
                      <a:pPr marL="0" marR="447040" lvl="0" indent="0" algn="just">
                        <a:buSzPts val="1200"/>
                        <a:buFont typeface="Times New Roman" panose="02020603050405020304" pitchFamily="18" charset="0"/>
                        <a:buNone/>
                        <a:tabLst>
                          <a:tab pos="219075" algn="l"/>
                        </a:tabLst>
                      </a:pPr>
                      <a:r>
                        <a:rPr lang="en-US" sz="2000" dirty="0">
                          <a:effectLst/>
                          <a:latin typeface="Times New Roman" panose="02020603050405020304" pitchFamily="18" charset="0"/>
                          <a:cs typeface="Times New Roman" panose="02020603050405020304" pitchFamily="18" charset="0"/>
                        </a:rPr>
                        <a:t>https://www.datacamp.com/courses/introduction-to-tableau/</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8" marR="16295" marT="0" marB="0" anchor="b"/>
                </a:tc>
                <a:extLst>
                  <a:ext uri="{0D108BD9-81ED-4DB2-BD59-A6C34878D82A}">
                    <a16:rowId xmlns:a16="http://schemas.microsoft.com/office/drawing/2014/main" val="876912711"/>
                  </a:ext>
                </a:extLst>
              </a:tr>
            </a:tbl>
          </a:graphicData>
        </a:graphic>
      </p:graphicFrame>
      <p:pic>
        <p:nvPicPr>
          <p:cNvPr id="4" name="Picture 3">
            <a:extLst>
              <a:ext uri="{FF2B5EF4-FFF2-40B4-BE49-F238E27FC236}">
                <a16:creationId xmlns:a16="http://schemas.microsoft.com/office/drawing/2014/main" id="{757C744C-E3A6-597A-8E97-86EA7F6D06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82300" y="29026"/>
            <a:ext cx="1409700" cy="919239"/>
          </a:xfrm>
          <a:prstGeom prst="rect">
            <a:avLst/>
          </a:prstGeom>
        </p:spPr>
      </p:pic>
    </p:spTree>
    <p:extLst>
      <p:ext uri="{BB962C8B-B14F-4D97-AF65-F5344CB8AC3E}">
        <p14:creationId xmlns:p14="http://schemas.microsoft.com/office/powerpoint/2010/main" val="909694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EA36176-340B-F9DF-171E-E6C0E0985519}"/>
              </a:ext>
            </a:extLst>
          </p:cNvPr>
          <p:cNvSpPr txBox="1"/>
          <p:nvPr/>
        </p:nvSpPr>
        <p:spPr>
          <a:xfrm>
            <a:off x="1524000" y="2682440"/>
            <a:ext cx="9144000" cy="746560"/>
          </a:xfrm>
          <a:prstGeom prst="rect">
            <a:avLst/>
          </a:prstGeom>
          <a:solidFill>
            <a:srgbClr val="7030A0"/>
          </a:solidFill>
          <a:ln>
            <a:noFill/>
          </a:ln>
        </p:spPr>
        <p:txBody>
          <a:bodyPr vert="horz" lIns="68580" tIns="34290" rIns="68580" bIns="34290" rtlCol="0" anchor="ctr">
            <a:noAutofit/>
          </a:bodyPr>
          <a:lstStyle>
            <a:lvl1pPr algn="ctr" defTabSz="914400" rtl="0" eaLnBrk="1" latinLnBrk="0" hangingPunct="1">
              <a:lnSpc>
                <a:spcPct val="90000"/>
              </a:lnSpc>
              <a:spcBef>
                <a:spcPct val="0"/>
              </a:spcBef>
              <a:buNone/>
              <a:defRPr sz="3600" b="0" kern="1200">
                <a:solidFill>
                  <a:schemeClr val="bg1"/>
                </a:solidFill>
                <a:effectLst>
                  <a:outerShdw blurRad="38100" dist="38100" dir="2700000" algn="tl">
                    <a:srgbClr val="000000">
                      <a:alpha val="43137"/>
                    </a:srgbClr>
                  </a:outerShdw>
                </a:effectLst>
                <a:latin typeface="+mj-lt"/>
                <a:ea typeface="Open Sans" pitchFamily="34" charset="0"/>
                <a:cs typeface="Open Sans" pitchFamily="34" charset="0"/>
              </a:defRPr>
            </a:lvl1pPr>
          </a:lstStyle>
          <a:p>
            <a:pPr fontAlgn="base">
              <a:lnSpc>
                <a:spcPct val="100000"/>
              </a:lnSpc>
              <a:spcAft>
                <a:spcPct val="0"/>
              </a:spcAft>
            </a:pPr>
            <a:r>
              <a:rPr lang="en-US" sz="4000" b="1" dirty="0">
                <a:solidFill>
                  <a:prstClr val="white"/>
                </a:solidFill>
                <a:latin typeface="Arial Black" panose="020B0A04020102020204" pitchFamily="34" charset="0"/>
                <a:ea typeface="Adobe Heiti Std R" panose="020B0400000000000000" pitchFamily="34" charset="-128"/>
              </a:rPr>
              <a:t>Unit 1</a:t>
            </a:r>
          </a:p>
        </p:txBody>
      </p:sp>
      <p:pic>
        <p:nvPicPr>
          <p:cNvPr id="2" name="Picture 1">
            <a:extLst>
              <a:ext uri="{FF2B5EF4-FFF2-40B4-BE49-F238E27FC236}">
                <a16:creationId xmlns:a16="http://schemas.microsoft.com/office/drawing/2014/main" id="{FFB0D32A-EC4B-5D6D-F7AF-4756157BA3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82300" y="29026"/>
            <a:ext cx="1409700" cy="1409700"/>
          </a:xfrm>
          <a:prstGeom prst="rect">
            <a:avLst/>
          </a:prstGeom>
        </p:spPr>
      </p:pic>
    </p:spTree>
    <p:extLst>
      <p:ext uri="{BB962C8B-B14F-4D97-AF65-F5344CB8AC3E}">
        <p14:creationId xmlns:p14="http://schemas.microsoft.com/office/powerpoint/2010/main" val="2030578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06D4A8D1-7AE6-C6B1-5E2B-B8D76A143B0C}"/>
              </a:ext>
            </a:extLst>
          </p:cNvPr>
          <p:cNvSpPr>
            <a:spLocks noGrp="1" noChangeArrowheads="1"/>
          </p:cNvSpPr>
          <p:nvPr>
            <p:ph type="title"/>
          </p:nvPr>
        </p:nvSpPr>
        <p:spPr/>
        <p:txBody>
          <a:bodyPr>
            <a:normAutofit fontScale="90000"/>
          </a:bodyPr>
          <a:lstStyle/>
          <a:p>
            <a:pPr eaLnBrk="1" hangingPunct="1">
              <a:defRPr/>
            </a:pPr>
            <a:r>
              <a:rPr lang="en-US" dirty="0"/>
              <a:t>Learning Objectives</a:t>
            </a:r>
          </a:p>
        </p:txBody>
      </p:sp>
      <p:sp>
        <p:nvSpPr>
          <p:cNvPr id="120835" name="Rectangle 3">
            <a:extLst>
              <a:ext uri="{FF2B5EF4-FFF2-40B4-BE49-F238E27FC236}">
                <a16:creationId xmlns:a16="http://schemas.microsoft.com/office/drawing/2014/main" id="{33209C71-E139-A998-6CFE-9F1BEC0F6CAC}"/>
              </a:ext>
            </a:extLst>
          </p:cNvPr>
          <p:cNvSpPr>
            <a:spLocks noGrp="1" noChangeArrowheads="1"/>
          </p:cNvSpPr>
          <p:nvPr>
            <p:ph type="body" idx="1"/>
          </p:nvPr>
        </p:nvSpPr>
        <p:spPr>
          <a:xfrm>
            <a:off x="954087" y="1181100"/>
            <a:ext cx="10660969" cy="4495800"/>
          </a:xfrm>
        </p:spPr>
        <p:txBody>
          <a:bodyPr>
            <a:normAutofit/>
          </a:bodyPr>
          <a:lstStyle/>
          <a:p>
            <a:pPr algn="just" eaLnBrk="1" hangingPunct="1">
              <a:defRPr/>
            </a:pPr>
            <a:r>
              <a:rPr lang="en-US" dirty="0"/>
              <a:t>Understand today's turbulent business environment and describe how organizations survive and even excel in such an environment (solving problems and exploiting opportunities)</a:t>
            </a:r>
          </a:p>
          <a:p>
            <a:pPr algn="just" eaLnBrk="1" hangingPunct="1">
              <a:defRPr/>
            </a:pPr>
            <a:r>
              <a:rPr lang="en-US" dirty="0"/>
              <a:t>Understand the need for computerized support of managerial decision making</a:t>
            </a:r>
          </a:p>
          <a:p>
            <a:pPr algn="just" eaLnBrk="1" hangingPunct="1">
              <a:defRPr/>
            </a:pPr>
            <a:r>
              <a:rPr lang="en-US" dirty="0"/>
              <a:t>Describe the business intelligence (BI) methodology and concepts and relate them to decision support systems (DSS)</a:t>
            </a:r>
          </a:p>
          <a:p>
            <a:pPr algn="just" eaLnBrk="1" hangingPunct="1">
              <a:defRPr/>
            </a:pPr>
            <a:r>
              <a:rPr lang="en-US" dirty="0"/>
              <a:t>Understand the issues in implementing BI</a:t>
            </a:r>
          </a:p>
        </p:txBody>
      </p:sp>
      <p:pic>
        <p:nvPicPr>
          <p:cNvPr id="2" name="Picture 1">
            <a:extLst>
              <a:ext uri="{FF2B5EF4-FFF2-40B4-BE49-F238E27FC236}">
                <a16:creationId xmlns:a16="http://schemas.microsoft.com/office/drawing/2014/main" id="{AEC21A31-F00D-6AD6-30FA-016413910B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82300" y="29026"/>
            <a:ext cx="1409700" cy="9192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C651A-85A1-8ED5-1E09-D53A755D4CFF}"/>
              </a:ext>
            </a:extLst>
          </p:cNvPr>
          <p:cNvSpPr>
            <a:spLocks noGrp="1"/>
          </p:cNvSpPr>
          <p:nvPr>
            <p:ph type="title"/>
          </p:nvPr>
        </p:nvSpPr>
        <p:spPr/>
        <p:txBody>
          <a:bodyPr>
            <a:normAutofit fontScale="90000"/>
          </a:bodyPr>
          <a:lstStyle/>
          <a:p>
            <a:pPr eaLnBrk="1" hangingPunct="1">
              <a:defRPr/>
            </a:pPr>
            <a:r>
              <a:rPr lang="en-US" dirty="0"/>
              <a:t>The Business Environment </a:t>
            </a:r>
          </a:p>
        </p:txBody>
      </p:sp>
      <p:sp>
        <p:nvSpPr>
          <p:cNvPr id="8195" name="Content Placeholder 2">
            <a:extLst>
              <a:ext uri="{FF2B5EF4-FFF2-40B4-BE49-F238E27FC236}">
                <a16:creationId xmlns:a16="http://schemas.microsoft.com/office/drawing/2014/main" id="{AD9D1A88-7B9F-EBF4-E67C-09EF2209FB5B}"/>
              </a:ext>
            </a:extLst>
          </p:cNvPr>
          <p:cNvSpPr>
            <a:spLocks noGrp="1"/>
          </p:cNvSpPr>
          <p:nvPr>
            <p:ph idx="1"/>
          </p:nvPr>
        </p:nvSpPr>
        <p:spPr/>
        <p:txBody>
          <a:bodyPr/>
          <a:lstStyle/>
          <a:p>
            <a:pPr eaLnBrk="1" hangingPunct="1"/>
            <a:r>
              <a:rPr lang="en-US" altLang="en-US"/>
              <a:t>The environment in which organizations operate today is becoming more and more complex, creating: </a:t>
            </a:r>
          </a:p>
          <a:p>
            <a:pPr lvl="1" eaLnBrk="1" hangingPunct="1"/>
            <a:r>
              <a:rPr lang="en-US" altLang="en-US"/>
              <a:t>opportunities, and</a:t>
            </a:r>
          </a:p>
          <a:p>
            <a:pPr lvl="1" eaLnBrk="1" hangingPunct="1"/>
            <a:r>
              <a:rPr lang="en-US" altLang="en-US"/>
              <a:t>problems.</a:t>
            </a:r>
          </a:p>
          <a:p>
            <a:pPr lvl="1" eaLnBrk="1" hangingPunct="1"/>
            <a:r>
              <a:rPr lang="en-US" altLang="en-US"/>
              <a:t>Example: globalization.</a:t>
            </a:r>
          </a:p>
          <a:p>
            <a:pPr eaLnBrk="1" hangingPunct="1"/>
            <a:r>
              <a:rPr lang="en-US" altLang="en-US"/>
              <a:t>Business environment factors: </a:t>
            </a:r>
          </a:p>
          <a:p>
            <a:pPr lvl="1" eaLnBrk="1" hangingPunct="1"/>
            <a:r>
              <a:rPr lang="en-US" altLang="en-US"/>
              <a:t>markets, consumer demands, technology, and societal.</a:t>
            </a:r>
          </a:p>
        </p:txBody>
      </p:sp>
      <p:pic>
        <p:nvPicPr>
          <p:cNvPr id="3" name="Picture 2">
            <a:extLst>
              <a:ext uri="{FF2B5EF4-FFF2-40B4-BE49-F238E27FC236}">
                <a16:creationId xmlns:a16="http://schemas.microsoft.com/office/drawing/2014/main" id="{B289CAE4-58CC-A05C-DBEC-785CBDCA59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083E3-8228-9338-3C98-E5BFCD32339B}"/>
              </a:ext>
            </a:extLst>
          </p:cNvPr>
          <p:cNvSpPr>
            <a:spLocks noGrp="1"/>
          </p:cNvSpPr>
          <p:nvPr>
            <p:ph type="title"/>
          </p:nvPr>
        </p:nvSpPr>
        <p:spPr/>
        <p:txBody>
          <a:bodyPr>
            <a:normAutofit fontScale="90000"/>
          </a:bodyPr>
          <a:lstStyle/>
          <a:p>
            <a:pPr eaLnBrk="1" hangingPunct="1">
              <a:defRPr/>
            </a:pPr>
            <a:r>
              <a:rPr lang="en-US" dirty="0"/>
              <a:t>Business Environment Factors</a:t>
            </a:r>
          </a:p>
        </p:txBody>
      </p:sp>
      <p:sp>
        <p:nvSpPr>
          <p:cNvPr id="9219" name="Rectangle 3">
            <a:extLst>
              <a:ext uri="{FF2B5EF4-FFF2-40B4-BE49-F238E27FC236}">
                <a16:creationId xmlns:a16="http://schemas.microsoft.com/office/drawing/2014/main" id="{12DB4698-9E73-E5C0-F1CF-1E02F5F23579}"/>
              </a:ext>
            </a:extLst>
          </p:cNvPr>
          <p:cNvSpPr>
            <a:spLocks noChangeArrowheads="1"/>
          </p:cNvSpPr>
          <p:nvPr/>
        </p:nvSpPr>
        <p:spPr bwMode="auto">
          <a:xfrm>
            <a:off x="1654629" y="1001485"/>
            <a:ext cx="73914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1317625" algn="l"/>
              </a:tabLst>
              <a:defRPr sz="2800" b="1">
                <a:solidFill>
                  <a:srgbClr val="CC3300"/>
                </a:solidFill>
                <a:latin typeface="Tahoma" panose="020B0604030504040204" pitchFamily="34" charset="0"/>
                <a:cs typeface="Arial" panose="020B0604020202020204" pitchFamily="34" charset="0"/>
              </a:defRPr>
            </a:lvl1pPr>
            <a:lvl2pPr eaLnBrk="0" hangingPunct="0">
              <a:tabLst>
                <a:tab pos="1317625" algn="l"/>
              </a:tabLst>
              <a:defRPr sz="2800" b="1">
                <a:solidFill>
                  <a:srgbClr val="CC3300"/>
                </a:solidFill>
                <a:latin typeface="Tahoma" panose="020B0604030504040204" pitchFamily="34" charset="0"/>
                <a:cs typeface="Arial" panose="020B0604020202020204" pitchFamily="34" charset="0"/>
              </a:defRPr>
            </a:lvl2pPr>
            <a:lvl3pPr marL="1143000" indent="-228600" eaLnBrk="0" hangingPunct="0">
              <a:tabLst>
                <a:tab pos="1317625" algn="l"/>
              </a:tabLst>
              <a:defRPr sz="2800" b="1">
                <a:solidFill>
                  <a:srgbClr val="CC3300"/>
                </a:solidFill>
                <a:latin typeface="Tahoma" panose="020B0604030504040204" pitchFamily="34" charset="0"/>
                <a:cs typeface="Arial" panose="020B0604020202020204" pitchFamily="34" charset="0"/>
              </a:defRPr>
            </a:lvl3pPr>
            <a:lvl4pPr marL="1600200" indent="-228600" eaLnBrk="0" hangingPunct="0">
              <a:tabLst>
                <a:tab pos="1317625" algn="l"/>
              </a:tabLst>
              <a:defRPr sz="2800" b="1">
                <a:solidFill>
                  <a:srgbClr val="CC3300"/>
                </a:solidFill>
                <a:latin typeface="Tahoma" panose="020B0604030504040204" pitchFamily="34" charset="0"/>
                <a:cs typeface="Arial" panose="020B0604020202020204" pitchFamily="34" charset="0"/>
              </a:defRPr>
            </a:lvl4pPr>
            <a:lvl5pPr marL="2057400" indent="-228600" eaLnBrk="0" hangingPunct="0">
              <a:tabLst>
                <a:tab pos="1317625" algn="l"/>
              </a:tabLst>
              <a:defRPr sz="2800" b="1">
                <a:solidFill>
                  <a:srgbClr val="CC3300"/>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tabLst>
                <a:tab pos="1317625" algn="l"/>
              </a:tabLst>
              <a:defRPr sz="2800" b="1">
                <a:solidFill>
                  <a:srgbClr val="CC3300"/>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tabLst>
                <a:tab pos="1317625" algn="l"/>
              </a:tabLst>
              <a:defRPr sz="2800" b="1">
                <a:solidFill>
                  <a:srgbClr val="CC3300"/>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tabLst>
                <a:tab pos="1317625" algn="l"/>
              </a:tabLst>
              <a:defRPr sz="2800" b="1">
                <a:solidFill>
                  <a:srgbClr val="CC3300"/>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tabLst>
                <a:tab pos="1317625" algn="l"/>
              </a:tabLst>
              <a:defRPr sz="2800" b="1">
                <a:solidFill>
                  <a:srgbClr val="CC3300"/>
                </a:solidFill>
                <a:latin typeface="Tahoma" panose="020B0604030504040204" pitchFamily="34" charset="0"/>
                <a:cs typeface="Arial" panose="020B0604020202020204" pitchFamily="34" charset="0"/>
              </a:defRPr>
            </a:lvl9pPr>
          </a:lstStyle>
          <a:p>
            <a:pPr eaLnBrk="1" hangingPunct="1"/>
            <a:r>
              <a:rPr lang="en-US" altLang="en-US" sz="1600" u="sng" dirty="0">
                <a:solidFill>
                  <a:srgbClr val="0000CC"/>
                </a:solidFill>
                <a:latin typeface="Times New Roman" panose="02020603050405020304" pitchFamily="18" charset="0"/>
              </a:rPr>
              <a:t>FACTOR</a:t>
            </a:r>
            <a:r>
              <a:rPr lang="en-US" altLang="en-US" sz="1600" dirty="0">
                <a:solidFill>
                  <a:srgbClr val="0000CC"/>
                </a:solidFill>
                <a:latin typeface="Times New Roman" panose="02020603050405020304" pitchFamily="18" charset="0"/>
              </a:rPr>
              <a:t>	</a:t>
            </a:r>
            <a:r>
              <a:rPr lang="en-US" altLang="en-US" sz="1600" u="sng" dirty="0">
                <a:solidFill>
                  <a:srgbClr val="0000CC"/>
                </a:solidFill>
                <a:latin typeface="Times New Roman" panose="02020603050405020304" pitchFamily="18" charset="0"/>
              </a:rPr>
              <a:t>DESCRIPTION					</a:t>
            </a:r>
            <a:endParaRPr lang="en-US" altLang="en-US" sz="1600" b="0" i="1" u="sng" dirty="0">
              <a:solidFill>
                <a:srgbClr val="0000CC"/>
              </a:solidFill>
              <a:latin typeface="Times New Roman" panose="02020603050405020304" pitchFamily="18" charset="0"/>
            </a:endParaRPr>
          </a:p>
          <a:p>
            <a:pPr eaLnBrk="1" hangingPunct="1"/>
            <a:r>
              <a:rPr lang="en-US" altLang="en-US" sz="1600" dirty="0">
                <a:solidFill>
                  <a:srgbClr val="FF0000"/>
                </a:solidFill>
                <a:latin typeface="Times New Roman" panose="02020603050405020304" pitchFamily="18" charset="0"/>
              </a:rPr>
              <a:t>Markets</a:t>
            </a:r>
            <a:r>
              <a:rPr lang="en-US" altLang="en-US" sz="1600" b="0" dirty="0">
                <a:latin typeface="Times New Roman" panose="02020603050405020304" pitchFamily="18" charset="0"/>
              </a:rPr>
              <a:t>	Strong competition	</a:t>
            </a:r>
          </a:p>
          <a:p>
            <a:pPr eaLnBrk="1" hangingPunct="1"/>
            <a:r>
              <a:rPr lang="en-US" altLang="en-US" sz="1600" b="0" dirty="0">
                <a:latin typeface="Times New Roman" panose="02020603050405020304" pitchFamily="18" charset="0"/>
              </a:rPr>
              <a:t>	Expanding global markets	</a:t>
            </a:r>
          </a:p>
          <a:p>
            <a:pPr eaLnBrk="1" hangingPunct="1"/>
            <a:r>
              <a:rPr lang="en-US" altLang="en-US" sz="1600" b="0" dirty="0">
                <a:latin typeface="Times New Roman" panose="02020603050405020304" pitchFamily="18" charset="0"/>
              </a:rPr>
              <a:t>	Blooming electronic markets on the Internet	</a:t>
            </a:r>
          </a:p>
          <a:p>
            <a:pPr eaLnBrk="1" hangingPunct="1"/>
            <a:r>
              <a:rPr lang="en-US" altLang="en-US" sz="1600" b="0" dirty="0">
                <a:latin typeface="Times New Roman" panose="02020603050405020304" pitchFamily="18" charset="0"/>
              </a:rPr>
              <a:t>	Innovative marketing methods	</a:t>
            </a:r>
          </a:p>
          <a:p>
            <a:pPr eaLnBrk="1" hangingPunct="1"/>
            <a:r>
              <a:rPr lang="en-US" altLang="en-US" sz="1600" b="0" dirty="0">
                <a:latin typeface="Times New Roman" panose="02020603050405020304" pitchFamily="18" charset="0"/>
              </a:rPr>
              <a:t>	Opportunities for outsourcing with IT support	</a:t>
            </a:r>
          </a:p>
          <a:p>
            <a:pPr eaLnBrk="1" hangingPunct="1"/>
            <a:r>
              <a:rPr lang="en-US" altLang="en-US" sz="1600" b="0" u="sng" dirty="0">
                <a:latin typeface="Times New Roman" panose="02020603050405020304" pitchFamily="18" charset="0"/>
              </a:rPr>
              <a:t>                         </a:t>
            </a:r>
            <a:r>
              <a:rPr lang="en-US" altLang="en-US" sz="1600" b="0" dirty="0">
                <a:latin typeface="Times New Roman" panose="02020603050405020304" pitchFamily="18" charset="0"/>
              </a:rPr>
              <a:t>	</a:t>
            </a:r>
            <a:r>
              <a:rPr lang="en-US" altLang="en-US" sz="1600" b="0" u="sng" dirty="0">
                <a:latin typeface="Times New Roman" panose="02020603050405020304" pitchFamily="18" charset="0"/>
              </a:rPr>
              <a:t>Need for real-time, on-demand transactions		</a:t>
            </a:r>
          </a:p>
          <a:p>
            <a:pPr eaLnBrk="1" hangingPunct="1"/>
            <a:r>
              <a:rPr lang="en-US" altLang="en-US" sz="1600" dirty="0">
                <a:solidFill>
                  <a:srgbClr val="FF0000"/>
                </a:solidFill>
                <a:latin typeface="Times New Roman" panose="02020603050405020304" pitchFamily="18" charset="0"/>
              </a:rPr>
              <a:t>Consumer</a:t>
            </a:r>
            <a:r>
              <a:rPr lang="en-US" altLang="en-US" sz="1600" dirty="0">
                <a:latin typeface="Times New Roman" panose="02020603050405020304" pitchFamily="18" charset="0"/>
              </a:rPr>
              <a:t> </a:t>
            </a:r>
            <a:r>
              <a:rPr lang="en-US" altLang="en-US" sz="1600" b="0" dirty="0">
                <a:latin typeface="Times New Roman" panose="02020603050405020304" pitchFamily="18" charset="0"/>
              </a:rPr>
              <a:t>	Desire for customization	</a:t>
            </a:r>
          </a:p>
          <a:p>
            <a:pPr eaLnBrk="1" hangingPunct="1"/>
            <a:r>
              <a:rPr lang="en-US" altLang="en-US" sz="1600" dirty="0">
                <a:latin typeface="Times New Roman" panose="02020603050405020304" pitchFamily="18" charset="0"/>
              </a:rPr>
              <a:t>   </a:t>
            </a:r>
            <a:r>
              <a:rPr lang="en-US" altLang="en-US" sz="1600" dirty="0">
                <a:solidFill>
                  <a:srgbClr val="FF0000"/>
                </a:solidFill>
                <a:latin typeface="Times New Roman" panose="02020603050405020304" pitchFamily="18" charset="0"/>
              </a:rPr>
              <a:t>demand</a:t>
            </a:r>
            <a:r>
              <a:rPr lang="en-US" altLang="en-US" sz="1600" b="0" dirty="0">
                <a:latin typeface="Times New Roman" panose="02020603050405020304" pitchFamily="18" charset="0"/>
              </a:rPr>
              <a:t>	Desire for quality, diversity of products, and speed of delivery	</a:t>
            </a:r>
          </a:p>
          <a:p>
            <a:pPr eaLnBrk="1" hangingPunct="1"/>
            <a:r>
              <a:rPr lang="en-US" altLang="en-US" sz="1600" b="0" u="sng" dirty="0">
                <a:latin typeface="Times New Roman" panose="02020603050405020304" pitchFamily="18" charset="0"/>
              </a:rPr>
              <a:t>                         </a:t>
            </a:r>
            <a:r>
              <a:rPr lang="en-US" altLang="en-US" sz="1600" b="0" dirty="0">
                <a:latin typeface="Times New Roman" panose="02020603050405020304" pitchFamily="18" charset="0"/>
              </a:rPr>
              <a:t>	</a:t>
            </a:r>
            <a:r>
              <a:rPr lang="en-US" altLang="en-US" sz="1600" b="0" u="sng" dirty="0">
                <a:latin typeface="Times New Roman" panose="02020603050405020304" pitchFamily="18" charset="0"/>
              </a:rPr>
              <a:t>Customers getting powerful and less loyal		      </a:t>
            </a:r>
          </a:p>
          <a:p>
            <a:pPr eaLnBrk="1" hangingPunct="1"/>
            <a:r>
              <a:rPr lang="en-US" altLang="en-US" sz="1600" dirty="0">
                <a:solidFill>
                  <a:srgbClr val="FF0000"/>
                </a:solidFill>
                <a:latin typeface="Times New Roman" panose="02020603050405020304" pitchFamily="18" charset="0"/>
              </a:rPr>
              <a:t>Technology</a:t>
            </a:r>
            <a:r>
              <a:rPr lang="en-US" altLang="en-US" sz="1600" b="0" dirty="0">
                <a:latin typeface="Times New Roman" panose="02020603050405020304" pitchFamily="18" charset="0"/>
              </a:rPr>
              <a:t>	More innovations, new products, and new services	</a:t>
            </a:r>
          </a:p>
          <a:p>
            <a:pPr eaLnBrk="1" hangingPunct="1"/>
            <a:r>
              <a:rPr lang="en-US" altLang="en-US" sz="1600" b="0" dirty="0">
                <a:latin typeface="Times New Roman" panose="02020603050405020304" pitchFamily="18" charset="0"/>
              </a:rPr>
              <a:t>	Increasing obsolescence rate	</a:t>
            </a:r>
          </a:p>
          <a:p>
            <a:pPr lvl="1" eaLnBrk="1" hangingPunct="1"/>
            <a:r>
              <a:rPr lang="en-US" altLang="en-US" sz="1600" b="0" dirty="0">
                <a:latin typeface="Times New Roman" panose="02020603050405020304" pitchFamily="18" charset="0"/>
              </a:rPr>
              <a:t>	Increasing information overload</a:t>
            </a:r>
          </a:p>
          <a:p>
            <a:pPr eaLnBrk="1" hangingPunct="1"/>
            <a:r>
              <a:rPr lang="en-US" altLang="en-US" sz="1600" b="0" u="sng" dirty="0">
                <a:latin typeface="Times New Roman" panose="02020603050405020304" pitchFamily="18" charset="0"/>
              </a:rPr>
              <a:t>                        </a:t>
            </a:r>
            <a:r>
              <a:rPr lang="en-US" altLang="en-US" sz="1600" b="0" dirty="0">
                <a:latin typeface="Times New Roman" panose="02020603050405020304" pitchFamily="18" charset="0"/>
              </a:rPr>
              <a:t> 	</a:t>
            </a:r>
            <a:r>
              <a:rPr lang="en-US" altLang="en-US" sz="1600" b="0" u="sng" dirty="0">
                <a:latin typeface="Times New Roman" panose="02020603050405020304" pitchFamily="18" charset="0"/>
              </a:rPr>
              <a:t>Social networking, Web 2.0 and beyond			</a:t>
            </a:r>
          </a:p>
          <a:p>
            <a:pPr eaLnBrk="1" hangingPunct="1"/>
            <a:r>
              <a:rPr lang="en-US" altLang="en-US" sz="1600" dirty="0">
                <a:solidFill>
                  <a:srgbClr val="FF0000"/>
                </a:solidFill>
                <a:latin typeface="Times New Roman" panose="02020603050405020304" pitchFamily="18" charset="0"/>
              </a:rPr>
              <a:t>Societal</a:t>
            </a:r>
            <a:r>
              <a:rPr lang="en-US" altLang="en-US" sz="1600" b="0" dirty="0">
                <a:latin typeface="Times New Roman" panose="02020603050405020304" pitchFamily="18" charset="0"/>
              </a:rPr>
              <a:t>	Growing government regulations and deregulation	</a:t>
            </a:r>
          </a:p>
          <a:p>
            <a:pPr eaLnBrk="1" hangingPunct="1"/>
            <a:r>
              <a:rPr lang="en-US" altLang="en-US" sz="1600" b="0" dirty="0">
                <a:latin typeface="Times New Roman" panose="02020603050405020304" pitchFamily="18" charset="0"/>
              </a:rPr>
              <a:t>	Workforce more diversified, older, and composed of more women	Prime concerns of homeland security and terrorist attacks	</a:t>
            </a:r>
          </a:p>
          <a:p>
            <a:pPr eaLnBrk="1" hangingPunct="1"/>
            <a:r>
              <a:rPr lang="en-US" altLang="en-US" sz="1600" b="0" dirty="0">
                <a:latin typeface="Times New Roman" panose="02020603050405020304" pitchFamily="18" charset="0"/>
              </a:rPr>
              <a:t>	Necessity of Sarbanes-Oxley Act and other reporting-related legislation	Increasing social responsibility of companies</a:t>
            </a:r>
          </a:p>
          <a:p>
            <a:pPr eaLnBrk="1" hangingPunct="1"/>
            <a:r>
              <a:rPr lang="en-US" altLang="en-US" sz="1600" b="0" dirty="0">
                <a:latin typeface="Times New Roman" panose="02020603050405020304" pitchFamily="18" charset="0"/>
              </a:rPr>
              <a:t>	Greater emphasis on sustainability	</a:t>
            </a:r>
          </a:p>
        </p:txBody>
      </p:sp>
      <p:pic>
        <p:nvPicPr>
          <p:cNvPr id="3" name="Picture 2">
            <a:extLst>
              <a:ext uri="{FF2B5EF4-FFF2-40B4-BE49-F238E27FC236}">
                <a16:creationId xmlns:a16="http://schemas.microsoft.com/office/drawing/2014/main" id="{CA889D84-ACCF-71F1-683A-0BC8567CA8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6342" y="29026"/>
            <a:ext cx="1186543" cy="91923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6E6F9EE-ABB0-A123-F8DC-ACD96051A01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C3D6454-1E6F-FDF0-9CA4-B794AFD73B8C}"/>
              </a:ext>
            </a:extLst>
          </p:cNvPr>
          <p:cNvSpPr txBox="1"/>
          <p:nvPr/>
        </p:nvSpPr>
        <p:spPr>
          <a:xfrm>
            <a:off x="1524000" y="2682440"/>
            <a:ext cx="9144000" cy="746560"/>
          </a:xfrm>
          <a:prstGeom prst="rect">
            <a:avLst/>
          </a:prstGeom>
          <a:solidFill>
            <a:srgbClr val="7030A0"/>
          </a:solidFill>
          <a:ln>
            <a:noFill/>
          </a:ln>
        </p:spPr>
        <p:txBody>
          <a:bodyPr vert="horz" lIns="68580" tIns="34290" rIns="68580" bIns="34290" rtlCol="0" anchor="ctr">
            <a:noAutofit/>
          </a:bodyPr>
          <a:lstStyle>
            <a:lvl1pPr algn="ctr" defTabSz="914400" rtl="0" eaLnBrk="1" latinLnBrk="0" hangingPunct="1">
              <a:lnSpc>
                <a:spcPct val="90000"/>
              </a:lnSpc>
              <a:spcBef>
                <a:spcPct val="0"/>
              </a:spcBef>
              <a:buNone/>
              <a:defRPr sz="3600" b="0" kern="1200">
                <a:solidFill>
                  <a:schemeClr val="bg1"/>
                </a:solidFill>
                <a:effectLst>
                  <a:outerShdw blurRad="38100" dist="38100" dir="2700000" algn="tl">
                    <a:srgbClr val="000000">
                      <a:alpha val="43137"/>
                    </a:srgbClr>
                  </a:outerShdw>
                </a:effectLst>
                <a:latin typeface="+mj-lt"/>
                <a:ea typeface="Open Sans" pitchFamily="34" charset="0"/>
                <a:cs typeface="Open Sans" pitchFamily="34" charset="0"/>
              </a:defRPr>
            </a:lvl1pPr>
          </a:lstStyle>
          <a:p>
            <a:pPr fontAlgn="base">
              <a:lnSpc>
                <a:spcPct val="100000"/>
              </a:lnSpc>
              <a:spcAft>
                <a:spcPct val="0"/>
              </a:spcAft>
            </a:pPr>
            <a:r>
              <a:rPr lang="en-US" sz="4000" b="1" dirty="0">
                <a:solidFill>
                  <a:prstClr val="white"/>
                </a:solidFill>
                <a:latin typeface="Arial Black" panose="020B0A04020102020204" pitchFamily="34" charset="0"/>
                <a:ea typeface="Adobe Heiti Std R" panose="020B0400000000000000" pitchFamily="34" charset="-128"/>
              </a:rPr>
              <a:t>Unit 2</a:t>
            </a:r>
          </a:p>
        </p:txBody>
      </p:sp>
      <p:pic>
        <p:nvPicPr>
          <p:cNvPr id="2" name="Picture 1">
            <a:extLst>
              <a:ext uri="{FF2B5EF4-FFF2-40B4-BE49-F238E27FC236}">
                <a16:creationId xmlns:a16="http://schemas.microsoft.com/office/drawing/2014/main" id="{70266B88-7EC4-536D-09A4-CC2E2E5647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444117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93D407D-90AB-ABC5-5724-C16BAF0ED98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1D920FB-C912-7976-64E8-4D5F5DA1DE27}"/>
              </a:ext>
            </a:extLst>
          </p:cNvPr>
          <p:cNvSpPr txBox="1"/>
          <p:nvPr/>
        </p:nvSpPr>
        <p:spPr>
          <a:xfrm>
            <a:off x="1524000" y="2682440"/>
            <a:ext cx="9144000" cy="746560"/>
          </a:xfrm>
          <a:prstGeom prst="rect">
            <a:avLst/>
          </a:prstGeom>
          <a:solidFill>
            <a:srgbClr val="7030A0"/>
          </a:solidFill>
          <a:ln>
            <a:noFill/>
          </a:ln>
        </p:spPr>
        <p:txBody>
          <a:bodyPr vert="horz" lIns="68580" tIns="34290" rIns="68580" bIns="34290" rtlCol="0" anchor="ctr">
            <a:noAutofit/>
          </a:bodyPr>
          <a:lstStyle>
            <a:lvl1pPr algn="ctr" defTabSz="914400" rtl="0" eaLnBrk="1" latinLnBrk="0" hangingPunct="1">
              <a:lnSpc>
                <a:spcPct val="90000"/>
              </a:lnSpc>
              <a:spcBef>
                <a:spcPct val="0"/>
              </a:spcBef>
              <a:buNone/>
              <a:defRPr sz="3600" b="0" kern="1200">
                <a:solidFill>
                  <a:schemeClr val="bg1"/>
                </a:solidFill>
                <a:effectLst>
                  <a:outerShdw blurRad="38100" dist="38100" dir="2700000" algn="tl">
                    <a:srgbClr val="000000">
                      <a:alpha val="43137"/>
                    </a:srgbClr>
                  </a:outerShdw>
                </a:effectLst>
                <a:latin typeface="+mj-lt"/>
                <a:ea typeface="Open Sans" pitchFamily="34" charset="0"/>
                <a:cs typeface="Open Sans" pitchFamily="34" charset="0"/>
              </a:defRPr>
            </a:lvl1pPr>
          </a:lstStyle>
          <a:p>
            <a:pPr fontAlgn="base">
              <a:lnSpc>
                <a:spcPct val="100000"/>
              </a:lnSpc>
              <a:spcAft>
                <a:spcPct val="0"/>
              </a:spcAft>
            </a:pPr>
            <a:r>
              <a:rPr lang="en-US" sz="4000" b="1" dirty="0">
                <a:solidFill>
                  <a:prstClr val="white"/>
                </a:solidFill>
                <a:latin typeface="Arial Black" panose="020B0A04020102020204" pitchFamily="34" charset="0"/>
                <a:ea typeface="Adobe Heiti Std R" panose="020B0400000000000000" pitchFamily="34" charset="-128"/>
              </a:rPr>
              <a:t>Unit 3</a:t>
            </a:r>
          </a:p>
        </p:txBody>
      </p:sp>
      <p:pic>
        <p:nvPicPr>
          <p:cNvPr id="2" name="Picture 1">
            <a:extLst>
              <a:ext uri="{FF2B5EF4-FFF2-40B4-BE49-F238E27FC236}">
                <a16:creationId xmlns:a16="http://schemas.microsoft.com/office/drawing/2014/main" id="{7BF40222-72CE-8E90-F5FC-DD05749D9D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2319635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C7A97CD-AC64-CAD3-62C1-0BC451659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27225-23C5-975C-CC3A-FAB3345FB705}"/>
              </a:ext>
            </a:extLst>
          </p:cNvPr>
          <p:cNvSpPr>
            <a:spLocks noGrp="1"/>
          </p:cNvSpPr>
          <p:nvPr>
            <p:ph type="title"/>
          </p:nvPr>
        </p:nvSpPr>
        <p:spPr/>
        <p:txBody>
          <a:bodyPr>
            <a:normAutofit fontScale="90000"/>
          </a:bodyPr>
          <a:lstStyle/>
          <a:p>
            <a:r>
              <a:rPr lang="en-IN" dirty="0"/>
              <a:t>Introduction to Basic Charts</a:t>
            </a:r>
          </a:p>
        </p:txBody>
      </p:sp>
      <p:sp>
        <p:nvSpPr>
          <p:cNvPr id="3" name="Content Placeholder 2">
            <a:extLst>
              <a:ext uri="{FF2B5EF4-FFF2-40B4-BE49-F238E27FC236}">
                <a16:creationId xmlns:a16="http://schemas.microsoft.com/office/drawing/2014/main" id="{A1137756-C9B5-CDC3-A300-E0E068342344}"/>
              </a:ext>
            </a:extLst>
          </p:cNvPr>
          <p:cNvSpPr>
            <a:spLocks noGrp="1"/>
          </p:cNvSpPr>
          <p:nvPr>
            <p:ph idx="1"/>
          </p:nvPr>
        </p:nvSpPr>
        <p:spPr/>
        <p:txBody>
          <a:bodyPr/>
          <a:lstStyle/>
          <a:p>
            <a:pPr marL="514350" indent="-514350">
              <a:buAutoNum type="arabicPeriod"/>
            </a:pPr>
            <a:r>
              <a:rPr lang="en-US" b="1" dirty="0"/>
              <a:t>Bar and Column Charts </a:t>
            </a:r>
          </a:p>
          <a:p>
            <a:pPr marL="0" indent="0">
              <a:buNone/>
            </a:pPr>
            <a:r>
              <a:rPr lang="en-US" dirty="0"/>
              <a:t>• Description: </a:t>
            </a:r>
          </a:p>
          <a:p>
            <a:pPr marL="0" indent="0">
              <a:buNone/>
            </a:pPr>
            <a:r>
              <a:rPr lang="en-US" dirty="0"/>
              <a:t>Bar and column charts are used to compare values across different categories. Bar charts display data horizontally, while column charts display data vertically. </a:t>
            </a:r>
          </a:p>
          <a:p>
            <a:pPr marL="0" indent="0">
              <a:buNone/>
            </a:pPr>
            <a:r>
              <a:rPr lang="en-US" dirty="0"/>
              <a:t>• Use Cases: </a:t>
            </a:r>
          </a:p>
          <a:p>
            <a:pPr marL="0" indent="0">
              <a:buNone/>
            </a:pPr>
            <a:r>
              <a:rPr lang="en-US" dirty="0"/>
              <a:t>Ideal for comparing sales figures across different regions, product performance, or website traffic by source. </a:t>
            </a:r>
          </a:p>
        </p:txBody>
      </p:sp>
      <p:pic>
        <p:nvPicPr>
          <p:cNvPr id="4" name="Picture 3">
            <a:extLst>
              <a:ext uri="{FF2B5EF4-FFF2-40B4-BE49-F238E27FC236}">
                <a16:creationId xmlns:a16="http://schemas.microsoft.com/office/drawing/2014/main" id="{422F91BB-936C-C799-31F7-C438C04AA4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2962972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8264489-FBEF-F843-4EB3-5C0F1EC40F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DB7F2D-A94C-8591-5223-2194E5FEA4E5}"/>
              </a:ext>
            </a:extLst>
          </p:cNvPr>
          <p:cNvSpPr>
            <a:spLocks noGrp="1"/>
          </p:cNvSpPr>
          <p:nvPr>
            <p:ph type="title"/>
          </p:nvPr>
        </p:nvSpPr>
        <p:spPr/>
        <p:txBody>
          <a:bodyPr>
            <a:normAutofit fontScale="90000"/>
          </a:bodyPr>
          <a:lstStyle/>
          <a:p>
            <a:r>
              <a:rPr lang="en-IN" dirty="0"/>
              <a:t>Introduction to Basic Charts</a:t>
            </a:r>
          </a:p>
        </p:txBody>
      </p:sp>
      <p:pic>
        <p:nvPicPr>
          <p:cNvPr id="6" name="Picture 5">
            <a:extLst>
              <a:ext uri="{FF2B5EF4-FFF2-40B4-BE49-F238E27FC236}">
                <a16:creationId xmlns:a16="http://schemas.microsoft.com/office/drawing/2014/main" id="{A47CD431-7C8B-79A5-16AE-D75E65AB4855}"/>
              </a:ext>
            </a:extLst>
          </p:cNvPr>
          <p:cNvPicPr>
            <a:picLocks noChangeAspect="1"/>
          </p:cNvPicPr>
          <p:nvPr/>
        </p:nvPicPr>
        <p:blipFill>
          <a:blip r:embed="rId2"/>
          <a:stretch>
            <a:fillRect/>
          </a:stretch>
        </p:blipFill>
        <p:spPr>
          <a:xfrm>
            <a:off x="1469571" y="1066801"/>
            <a:ext cx="9144000" cy="4394304"/>
          </a:xfrm>
          <a:prstGeom prst="rect">
            <a:avLst/>
          </a:prstGeom>
        </p:spPr>
      </p:pic>
      <p:pic>
        <p:nvPicPr>
          <p:cNvPr id="3" name="Picture 2">
            <a:extLst>
              <a:ext uri="{FF2B5EF4-FFF2-40B4-BE49-F238E27FC236}">
                <a16:creationId xmlns:a16="http://schemas.microsoft.com/office/drawing/2014/main" id="{E900E13C-1571-1107-477C-75CF48E747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3608330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EFD0DD9-64F7-935A-F1F3-BFB8AB3257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092EF0-803A-B4EA-E85C-365A8D7139FD}"/>
              </a:ext>
            </a:extLst>
          </p:cNvPr>
          <p:cNvSpPr>
            <a:spLocks noGrp="1"/>
          </p:cNvSpPr>
          <p:nvPr>
            <p:ph type="title"/>
          </p:nvPr>
        </p:nvSpPr>
        <p:spPr/>
        <p:txBody>
          <a:bodyPr>
            <a:normAutofit fontScale="90000"/>
          </a:bodyPr>
          <a:lstStyle/>
          <a:p>
            <a:r>
              <a:rPr lang="en-IN" dirty="0"/>
              <a:t>Introduction to Basic Charts</a:t>
            </a:r>
          </a:p>
        </p:txBody>
      </p:sp>
      <p:pic>
        <p:nvPicPr>
          <p:cNvPr id="66562" name="Picture 2" descr="Bar and Column Charts in Power BI - Financial Edge">
            <a:extLst>
              <a:ext uri="{FF2B5EF4-FFF2-40B4-BE49-F238E27FC236}">
                <a16:creationId xmlns:a16="http://schemas.microsoft.com/office/drawing/2014/main" id="{863B2528-B671-CD93-7EB7-FF7402E19D6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49342" y="1447799"/>
            <a:ext cx="7093315" cy="385354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43320CE-0C34-F0FD-7F9B-730267B5D9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2659616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B8941A2-0571-414B-FE69-AAA01406B9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44B5A-5DBD-75AC-AB29-A6F96B1B3C21}"/>
              </a:ext>
            </a:extLst>
          </p:cNvPr>
          <p:cNvSpPr>
            <a:spLocks noGrp="1"/>
          </p:cNvSpPr>
          <p:nvPr>
            <p:ph type="title"/>
          </p:nvPr>
        </p:nvSpPr>
        <p:spPr/>
        <p:txBody>
          <a:bodyPr>
            <a:normAutofit fontScale="90000"/>
          </a:bodyPr>
          <a:lstStyle/>
          <a:p>
            <a:r>
              <a:rPr lang="en-IN" dirty="0"/>
              <a:t>Introduction to Basic Charts</a:t>
            </a:r>
          </a:p>
        </p:txBody>
      </p:sp>
      <p:sp>
        <p:nvSpPr>
          <p:cNvPr id="3" name="Content Placeholder 2">
            <a:extLst>
              <a:ext uri="{FF2B5EF4-FFF2-40B4-BE49-F238E27FC236}">
                <a16:creationId xmlns:a16="http://schemas.microsoft.com/office/drawing/2014/main" id="{2D44FE1C-C66B-8E4C-A515-47B2C59A5708}"/>
              </a:ext>
            </a:extLst>
          </p:cNvPr>
          <p:cNvSpPr>
            <a:spLocks noGrp="1"/>
          </p:cNvSpPr>
          <p:nvPr>
            <p:ph idx="1"/>
          </p:nvPr>
        </p:nvSpPr>
        <p:spPr/>
        <p:txBody>
          <a:bodyPr/>
          <a:lstStyle/>
          <a:p>
            <a:pPr marL="0" indent="0">
              <a:buNone/>
            </a:pPr>
            <a:r>
              <a:rPr lang="en-IN" b="1" dirty="0"/>
              <a:t>2. Line Charts</a:t>
            </a:r>
          </a:p>
          <a:p>
            <a:pPr marL="0" indent="0">
              <a:buNone/>
            </a:pPr>
            <a:r>
              <a:rPr lang="en-US" dirty="0"/>
              <a:t>• Description: </a:t>
            </a:r>
          </a:p>
          <a:p>
            <a:pPr marL="0" indent="0">
              <a:buNone/>
            </a:pPr>
            <a:r>
              <a:rPr lang="en-US" dirty="0"/>
              <a:t>Line charts display data points connected by lines, showing trends over time or other continuous variables. </a:t>
            </a:r>
          </a:p>
          <a:p>
            <a:pPr marL="0" indent="0">
              <a:buNone/>
            </a:pPr>
            <a:r>
              <a:rPr lang="en-US" dirty="0"/>
              <a:t>• Use Cases: </a:t>
            </a:r>
          </a:p>
          <a:p>
            <a:pPr marL="0" indent="0">
              <a:buNone/>
            </a:pPr>
            <a:r>
              <a:rPr lang="en-US" dirty="0"/>
              <a:t>Best for visualizing changes in data over time, such as stock prices, temperature fluctuations, or website visits over a period. </a:t>
            </a:r>
          </a:p>
          <a:p>
            <a:pPr marL="0" indent="0">
              <a:buNone/>
            </a:pPr>
            <a:r>
              <a:rPr lang="en-US" dirty="0"/>
              <a:t>• Example: </a:t>
            </a:r>
          </a:p>
          <a:p>
            <a:pPr marL="0" indent="0">
              <a:buNone/>
            </a:pPr>
            <a:r>
              <a:rPr lang="en-US" dirty="0"/>
              <a:t>To visualize the monthly sales trend over the past year, you would use a line chart with months on the x-axis and sales amount on the y-axis</a:t>
            </a:r>
          </a:p>
        </p:txBody>
      </p:sp>
      <p:pic>
        <p:nvPicPr>
          <p:cNvPr id="4" name="Picture 3">
            <a:extLst>
              <a:ext uri="{FF2B5EF4-FFF2-40B4-BE49-F238E27FC236}">
                <a16:creationId xmlns:a16="http://schemas.microsoft.com/office/drawing/2014/main" id="{89F35209-EBC7-F176-1982-AA345A1A4B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2371553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D865968-7D30-50A7-52F7-F0A7536CCD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F056F-B8B5-8598-0C77-7931B69727F3}"/>
              </a:ext>
            </a:extLst>
          </p:cNvPr>
          <p:cNvSpPr>
            <a:spLocks noGrp="1"/>
          </p:cNvSpPr>
          <p:nvPr>
            <p:ph type="title"/>
          </p:nvPr>
        </p:nvSpPr>
        <p:spPr/>
        <p:txBody>
          <a:bodyPr>
            <a:normAutofit fontScale="90000"/>
          </a:bodyPr>
          <a:lstStyle/>
          <a:p>
            <a:r>
              <a:rPr lang="en-IN" dirty="0"/>
              <a:t>Introduction to Basic Charts</a:t>
            </a:r>
          </a:p>
        </p:txBody>
      </p:sp>
      <p:sp>
        <p:nvSpPr>
          <p:cNvPr id="3" name="Content Placeholder 2">
            <a:extLst>
              <a:ext uri="{FF2B5EF4-FFF2-40B4-BE49-F238E27FC236}">
                <a16:creationId xmlns:a16="http://schemas.microsoft.com/office/drawing/2014/main" id="{54482F57-B9AA-C908-07C8-820A020CC466}"/>
              </a:ext>
            </a:extLst>
          </p:cNvPr>
          <p:cNvSpPr>
            <a:spLocks noGrp="1"/>
          </p:cNvSpPr>
          <p:nvPr>
            <p:ph idx="1"/>
          </p:nvPr>
        </p:nvSpPr>
        <p:spPr/>
        <p:txBody>
          <a:bodyPr>
            <a:normAutofit/>
          </a:bodyPr>
          <a:lstStyle/>
          <a:p>
            <a:pPr marL="0" indent="0">
              <a:buNone/>
            </a:pPr>
            <a:r>
              <a:rPr lang="en-IN" b="1" dirty="0"/>
              <a:t>6. Ribbon Chart</a:t>
            </a:r>
          </a:p>
          <a:p>
            <a:pPr marL="0" indent="0">
              <a:buNone/>
            </a:pPr>
            <a:endParaRPr lang="en-IN" b="1" dirty="0"/>
          </a:p>
          <a:p>
            <a:pPr marL="0" indent="0">
              <a:buNone/>
            </a:pPr>
            <a:r>
              <a:rPr lang="en-US" dirty="0"/>
              <a:t>Usage Scenarios:</a:t>
            </a:r>
          </a:p>
          <a:p>
            <a:pPr marL="0" indent="0">
              <a:buNone/>
            </a:pPr>
            <a:r>
              <a:rPr lang="en-US" dirty="0"/>
              <a:t>• Market Share Analysis: Tracking the changing market share of different companies over time. </a:t>
            </a:r>
          </a:p>
          <a:p>
            <a:pPr marL="0" indent="0">
              <a:buNone/>
            </a:pPr>
            <a:r>
              <a:rPr lang="en-US" dirty="0"/>
              <a:t>• Product Category Performance: Visualizing the sales performance of different product categories over months or years. </a:t>
            </a:r>
          </a:p>
          <a:p>
            <a:pPr marL="0" indent="0">
              <a:buNone/>
            </a:pPr>
            <a:r>
              <a:rPr lang="en-US" dirty="0"/>
              <a:t>• Website Traffic Sources: Showing how the proportion of traffic from different sources (e.g., organic search, social media) changes over time. • Budget Allocation: Displaying how budget allocations for different departments change across fiscal years</a:t>
            </a:r>
          </a:p>
        </p:txBody>
      </p:sp>
      <p:pic>
        <p:nvPicPr>
          <p:cNvPr id="4" name="Picture 3">
            <a:extLst>
              <a:ext uri="{FF2B5EF4-FFF2-40B4-BE49-F238E27FC236}">
                <a16:creationId xmlns:a16="http://schemas.microsoft.com/office/drawing/2014/main" id="{AEEC61B8-8F65-6E10-6EFE-BC00E99409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1714448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99BBD2B-4D03-C3CF-9EAA-0C23729D9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ADDB1-AB38-BE96-7863-22118CDBDB38}"/>
              </a:ext>
            </a:extLst>
          </p:cNvPr>
          <p:cNvSpPr>
            <a:spLocks noGrp="1"/>
          </p:cNvSpPr>
          <p:nvPr>
            <p:ph type="title"/>
          </p:nvPr>
        </p:nvSpPr>
        <p:spPr/>
        <p:txBody>
          <a:bodyPr>
            <a:normAutofit fontScale="90000"/>
          </a:bodyPr>
          <a:lstStyle/>
          <a:p>
            <a:r>
              <a:rPr lang="en-IN" dirty="0"/>
              <a:t>Introduction to Basic Charts</a:t>
            </a:r>
          </a:p>
        </p:txBody>
      </p:sp>
      <p:sp>
        <p:nvSpPr>
          <p:cNvPr id="3" name="Content Placeholder 2">
            <a:extLst>
              <a:ext uri="{FF2B5EF4-FFF2-40B4-BE49-F238E27FC236}">
                <a16:creationId xmlns:a16="http://schemas.microsoft.com/office/drawing/2014/main" id="{A6580608-04C2-4328-FC0A-85B013044115}"/>
              </a:ext>
            </a:extLst>
          </p:cNvPr>
          <p:cNvSpPr>
            <a:spLocks noGrp="1"/>
          </p:cNvSpPr>
          <p:nvPr>
            <p:ph idx="1"/>
          </p:nvPr>
        </p:nvSpPr>
        <p:spPr/>
        <p:txBody>
          <a:bodyPr>
            <a:normAutofit lnSpcReduction="10000"/>
          </a:bodyPr>
          <a:lstStyle/>
          <a:p>
            <a:pPr marL="0" indent="0">
              <a:buNone/>
            </a:pPr>
            <a:r>
              <a:rPr lang="en-IN" b="1" dirty="0"/>
              <a:t>6. Ribbon Chart</a:t>
            </a:r>
          </a:p>
          <a:p>
            <a:pPr marL="0" indent="0">
              <a:buNone/>
            </a:pPr>
            <a:endParaRPr lang="en-IN" b="1" dirty="0"/>
          </a:p>
          <a:p>
            <a:pPr marL="0" indent="0">
              <a:buNone/>
            </a:pPr>
            <a:r>
              <a:rPr lang="en-US" dirty="0"/>
              <a:t>Example Let's consider a market share analysis example. We want to visualize the market share of different companies over several years: </a:t>
            </a:r>
          </a:p>
          <a:p>
            <a:pPr marL="0" indent="0">
              <a:buNone/>
            </a:pPr>
            <a:r>
              <a:rPr lang="en-US" dirty="0"/>
              <a:t>• Company A: Market Share in 2020: 40%, 2021: 45%, 2022: 50%, 2023: 55% </a:t>
            </a:r>
          </a:p>
          <a:p>
            <a:pPr marL="0" indent="0">
              <a:buNone/>
            </a:pPr>
            <a:r>
              <a:rPr lang="en-US" dirty="0"/>
              <a:t>• Company B: Market Share in 2020: 30%, 2021: 25%, 2022: 20%, 2023: 15% </a:t>
            </a:r>
          </a:p>
          <a:p>
            <a:pPr marL="0" indent="0">
              <a:buNone/>
            </a:pPr>
            <a:r>
              <a:rPr lang="en-US" dirty="0"/>
              <a:t>• Company C: Market Share in 2020: 20%, 2021: 22%, 2022: 23%, 2023: 25% </a:t>
            </a:r>
          </a:p>
          <a:p>
            <a:pPr marL="0" indent="0">
              <a:buNone/>
            </a:pPr>
            <a:r>
              <a:rPr lang="en-US" dirty="0"/>
              <a:t>• Company D: Market Share in 2020: 10%, 2021: 8%, 2022: 7%, 2023: 5%</a:t>
            </a:r>
          </a:p>
        </p:txBody>
      </p:sp>
      <p:pic>
        <p:nvPicPr>
          <p:cNvPr id="4" name="Picture 3">
            <a:extLst>
              <a:ext uri="{FF2B5EF4-FFF2-40B4-BE49-F238E27FC236}">
                <a16:creationId xmlns:a16="http://schemas.microsoft.com/office/drawing/2014/main" id="{598A2FE0-1C6E-08BF-E55C-0DC8511A38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3377332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439E9B6-F99F-3AD5-01F7-8DAAD92E7A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249AC-9ABD-1A59-7120-AF7A7CC0C11C}"/>
              </a:ext>
            </a:extLst>
          </p:cNvPr>
          <p:cNvSpPr>
            <a:spLocks noGrp="1"/>
          </p:cNvSpPr>
          <p:nvPr>
            <p:ph type="title"/>
          </p:nvPr>
        </p:nvSpPr>
        <p:spPr/>
        <p:txBody>
          <a:bodyPr>
            <a:normAutofit fontScale="90000"/>
          </a:bodyPr>
          <a:lstStyle/>
          <a:p>
            <a:r>
              <a:rPr lang="en-IN" dirty="0"/>
              <a:t>Introduction to Basic Charts</a:t>
            </a:r>
          </a:p>
        </p:txBody>
      </p:sp>
      <p:sp>
        <p:nvSpPr>
          <p:cNvPr id="3" name="Content Placeholder 2">
            <a:extLst>
              <a:ext uri="{FF2B5EF4-FFF2-40B4-BE49-F238E27FC236}">
                <a16:creationId xmlns:a16="http://schemas.microsoft.com/office/drawing/2014/main" id="{999BB969-86EF-4417-5DC1-2799C6478603}"/>
              </a:ext>
            </a:extLst>
          </p:cNvPr>
          <p:cNvSpPr>
            <a:spLocks noGrp="1"/>
          </p:cNvSpPr>
          <p:nvPr>
            <p:ph idx="1"/>
          </p:nvPr>
        </p:nvSpPr>
        <p:spPr/>
        <p:txBody>
          <a:bodyPr>
            <a:normAutofit lnSpcReduction="10000"/>
          </a:bodyPr>
          <a:lstStyle/>
          <a:p>
            <a:pPr marL="0" indent="0">
              <a:buNone/>
            </a:pPr>
            <a:r>
              <a:rPr lang="en-IN" b="1" dirty="0"/>
              <a:t>6. Ribbon Chart</a:t>
            </a:r>
          </a:p>
          <a:p>
            <a:pPr marL="0" indent="0">
              <a:buNone/>
            </a:pPr>
            <a:endParaRPr lang="en-IN" b="1" dirty="0"/>
          </a:p>
          <a:p>
            <a:pPr marL="0" indent="0">
              <a:buNone/>
            </a:pPr>
            <a:r>
              <a:rPr lang="en-US" b="1" dirty="0"/>
              <a:t>Steps to create a Ribbon Chart in Power BI: </a:t>
            </a:r>
          </a:p>
          <a:p>
            <a:pPr marL="514350" indent="-514350">
              <a:buAutoNum type="arabicPeriod"/>
            </a:pPr>
            <a:r>
              <a:rPr lang="en-US" dirty="0"/>
              <a:t>Load Data: Import the data into Power BI. </a:t>
            </a:r>
          </a:p>
          <a:p>
            <a:pPr marL="0" indent="0">
              <a:buNone/>
            </a:pPr>
            <a:r>
              <a:rPr lang="en-US" dirty="0"/>
              <a:t>2. Select Ribbon Chart: In the Visualizations pane, select the Ribbon chart icon. </a:t>
            </a:r>
          </a:p>
          <a:p>
            <a:pPr marL="0" indent="0">
              <a:buNone/>
            </a:pPr>
            <a:r>
              <a:rPr lang="en-US" dirty="0"/>
              <a:t>3. Add Fields: Drag the "Year" field to the "Axis" well, the "Company" field to the "Legend" well, and the "Market Share" field to the "Value" well. </a:t>
            </a:r>
          </a:p>
          <a:p>
            <a:pPr marL="0" indent="0">
              <a:buNone/>
            </a:pPr>
            <a:r>
              <a:rPr lang="en-US" dirty="0"/>
              <a:t>4. Format (Optional): Customize the chart's appearance, such as colors, data labels, and titles, in the Format pane. You can also adjust the "Ribbon Style" to control the appearance of the ribbons.</a:t>
            </a:r>
          </a:p>
        </p:txBody>
      </p:sp>
      <p:pic>
        <p:nvPicPr>
          <p:cNvPr id="4" name="Picture 3">
            <a:extLst>
              <a:ext uri="{FF2B5EF4-FFF2-40B4-BE49-F238E27FC236}">
                <a16:creationId xmlns:a16="http://schemas.microsoft.com/office/drawing/2014/main" id="{1E71348C-EE81-829A-AF46-79AD88ADB8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2653400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7C7E325-9A85-30DA-3418-358B6D746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64B2C5-10F0-FD8B-9821-E5CB3030612A}"/>
              </a:ext>
            </a:extLst>
          </p:cNvPr>
          <p:cNvSpPr>
            <a:spLocks noGrp="1"/>
          </p:cNvSpPr>
          <p:nvPr>
            <p:ph type="title"/>
          </p:nvPr>
        </p:nvSpPr>
        <p:spPr/>
        <p:txBody>
          <a:bodyPr>
            <a:normAutofit fontScale="90000"/>
          </a:bodyPr>
          <a:lstStyle/>
          <a:p>
            <a:r>
              <a:rPr lang="en-IN" dirty="0"/>
              <a:t>Introduction to Basic Charts</a:t>
            </a:r>
          </a:p>
        </p:txBody>
      </p:sp>
      <p:pic>
        <p:nvPicPr>
          <p:cNvPr id="5" name="Picture 4">
            <a:extLst>
              <a:ext uri="{FF2B5EF4-FFF2-40B4-BE49-F238E27FC236}">
                <a16:creationId xmlns:a16="http://schemas.microsoft.com/office/drawing/2014/main" id="{105F58AC-9251-8C6A-D23F-F67DE41B27FE}"/>
              </a:ext>
            </a:extLst>
          </p:cNvPr>
          <p:cNvPicPr>
            <a:picLocks noChangeAspect="1"/>
          </p:cNvPicPr>
          <p:nvPr/>
        </p:nvPicPr>
        <p:blipFill>
          <a:blip r:embed="rId2"/>
          <a:stretch>
            <a:fillRect/>
          </a:stretch>
        </p:blipFill>
        <p:spPr>
          <a:xfrm>
            <a:off x="1883229" y="1284515"/>
            <a:ext cx="8534400" cy="3843198"/>
          </a:xfrm>
          <a:prstGeom prst="rect">
            <a:avLst/>
          </a:prstGeom>
        </p:spPr>
      </p:pic>
      <p:pic>
        <p:nvPicPr>
          <p:cNvPr id="3" name="Picture 2">
            <a:extLst>
              <a:ext uri="{FF2B5EF4-FFF2-40B4-BE49-F238E27FC236}">
                <a16:creationId xmlns:a16="http://schemas.microsoft.com/office/drawing/2014/main" id="{91D67A6B-9771-E914-2A4C-3D63F3B18D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34071092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521489C-1C15-C9C4-5E8C-6B7A212BB0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5D53F3-F21D-8E19-B016-FD220B8922CC}"/>
              </a:ext>
            </a:extLst>
          </p:cNvPr>
          <p:cNvSpPr>
            <a:spLocks noGrp="1"/>
          </p:cNvSpPr>
          <p:nvPr>
            <p:ph type="title"/>
          </p:nvPr>
        </p:nvSpPr>
        <p:spPr/>
        <p:txBody>
          <a:bodyPr>
            <a:normAutofit fontScale="90000"/>
          </a:bodyPr>
          <a:lstStyle/>
          <a:p>
            <a:r>
              <a:rPr lang="en-IN" dirty="0"/>
              <a:t>Introduction to Basic Charts</a:t>
            </a:r>
          </a:p>
        </p:txBody>
      </p:sp>
      <p:sp>
        <p:nvSpPr>
          <p:cNvPr id="3" name="Content Placeholder 2">
            <a:extLst>
              <a:ext uri="{FF2B5EF4-FFF2-40B4-BE49-F238E27FC236}">
                <a16:creationId xmlns:a16="http://schemas.microsoft.com/office/drawing/2014/main" id="{F0CBA488-EE4F-D17D-69CC-D1F2E3E7271C}"/>
              </a:ext>
            </a:extLst>
          </p:cNvPr>
          <p:cNvSpPr>
            <a:spLocks noGrp="1"/>
          </p:cNvSpPr>
          <p:nvPr>
            <p:ph idx="1"/>
          </p:nvPr>
        </p:nvSpPr>
        <p:spPr/>
        <p:txBody>
          <a:bodyPr>
            <a:normAutofit fontScale="92500" lnSpcReduction="10000"/>
          </a:bodyPr>
          <a:lstStyle/>
          <a:p>
            <a:pPr marL="0" indent="0">
              <a:buNone/>
            </a:pPr>
            <a:r>
              <a:rPr lang="en-IN" b="1" dirty="0"/>
              <a:t>7. Tree Map</a:t>
            </a:r>
          </a:p>
          <a:p>
            <a:pPr marL="0" indent="0">
              <a:buNone/>
            </a:pPr>
            <a:endParaRPr lang="en-IN" b="1" dirty="0"/>
          </a:p>
          <a:p>
            <a:r>
              <a:rPr lang="en-US" b="1" dirty="0"/>
              <a:t>Description: </a:t>
            </a:r>
          </a:p>
          <a:p>
            <a:r>
              <a:rPr lang="en-US" dirty="0"/>
              <a:t>Tree maps display hierarchical data as a set of nested rectangles. The size of each rectangle is proportional to its value. </a:t>
            </a:r>
          </a:p>
          <a:p>
            <a:pPr marL="0" indent="0">
              <a:buNone/>
            </a:pPr>
            <a:r>
              <a:rPr lang="en-US" dirty="0"/>
              <a:t>• </a:t>
            </a:r>
            <a:r>
              <a:rPr lang="en-US" b="1" dirty="0"/>
              <a:t>Use Cases: </a:t>
            </a:r>
          </a:p>
          <a:p>
            <a:pPr marL="0" indent="0">
              <a:buNone/>
            </a:pPr>
            <a:r>
              <a:rPr lang="en-US" dirty="0"/>
              <a:t>Useful for visualizing hierarchical data, such as sales by region and product category, or website traffic by source and page. </a:t>
            </a:r>
          </a:p>
          <a:p>
            <a:pPr marL="0" indent="0">
              <a:buNone/>
            </a:pPr>
            <a:r>
              <a:rPr lang="en-US" dirty="0"/>
              <a:t>• </a:t>
            </a:r>
            <a:r>
              <a:rPr lang="en-US" b="1" dirty="0"/>
              <a:t>Example: </a:t>
            </a:r>
          </a:p>
          <a:p>
            <a:pPr marL="0" indent="0">
              <a:buNone/>
            </a:pPr>
            <a:r>
              <a:rPr lang="en-US" dirty="0"/>
              <a:t>To visualize sales by region and product category, you would use a </a:t>
            </a:r>
            <a:r>
              <a:rPr lang="en-US" dirty="0" err="1"/>
              <a:t>treemap</a:t>
            </a:r>
            <a:r>
              <a:rPr lang="en-US" dirty="0"/>
              <a:t> with regions as the main categories and product categories nested within each region</a:t>
            </a:r>
          </a:p>
        </p:txBody>
      </p:sp>
      <p:pic>
        <p:nvPicPr>
          <p:cNvPr id="4" name="Picture 3">
            <a:extLst>
              <a:ext uri="{FF2B5EF4-FFF2-40B4-BE49-F238E27FC236}">
                <a16:creationId xmlns:a16="http://schemas.microsoft.com/office/drawing/2014/main" id="{60EA5BF8-C828-89BB-D86D-ED61CBDBE8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1370491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2DE31A8-E060-E540-EEA6-732C5A41C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BCCA3-EA9B-517B-DB1C-6EBAD315A901}"/>
              </a:ext>
            </a:extLst>
          </p:cNvPr>
          <p:cNvSpPr>
            <a:spLocks noGrp="1"/>
          </p:cNvSpPr>
          <p:nvPr>
            <p:ph type="title"/>
          </p:nvPr>
        </p:nvSpPr>
        <p:spPr/>
        <p:txBody>
          <a:bodyPr>
            <a:normAutofit fontScale="90000"/>
          </a:bodyPr>
          <a:lstStyle/>
          <a:p>
            <a:r>
              <a:rPr lang="en-IN" dirty="0"/>
              <a:t>Introduction to Basic Charts</a:t>
            </a:r>
          </a:p>
        </p:txBody>
      </p:sp>
      <p:pic>
        <p:nvPicPr>
          <p:cNvPr id="4" name="Picture 3">
            <a:extLst>
              <a:ext uri="{FF2B5EF4-FFF2-40B4-BE49-F238E27FC236}">
                <a16:creationId xmlns:a16="http://schemas.microsoft.com/office/drawing/2014/main" id="{9D31A41C-81F7-9424-C0E3-EF39F22BC9DE}"/>
              </a:ext>
            </a:extLst>
          </p:cNvPr>
          <p:cNvPicPr>
            <a:picLocks noChangeAspect="1"/>
          </p:cNvPicPr>
          <p:nvPr/>
        </p:nvPicPr>
        <p:blipFill>
          <a:blip r:embed="rId2"/>
          <a:stretch>
            <a:fillRect/>
          </a:stretch>
        </p:blipFill>
        <p:spPr>
          <a:xfrm>
            <a:off x="1197429" y="1101605"/>
            <a:ext cx="9514114" cy="4654789"/>
          </a:xfrm>
          <a:prstGeom prst="rect">
            <a:avLst/>
          </a:prstGeom>
        </p:spPr>
      </p:pic>
      <p:pic>
        <p:nvPicPr>
          <p:cNvPr id="3" name="Picture 2">
            <a:extLst>
              <a:ext uri="{FF2B5EF4-FFF2-40B4-BE49-F238E27FC236}">
                <a16:creationId xmlns:a16="http://schemas.microsoft.com/office/drawing/2014/main" id="{8F6A95A2-F81B-9AA1-1F31-406F8B030A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2485981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69A4E17-C186-3138-595C-5E32A4033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034BF-D3C0-5BA5-E55C-E719C5A4F822}"/>
              </a:ext>
            </a:extLst>
          </p:cNvPr>
          <p:cNvSpPr>
            <a:spLocks noGrp="1"/>
          </p:cNvSpPr>
          <p:nvPr>
            <p:ph type="title"/>
          </p:nvPr>
        </p:nvSpPr>
        <p:spPr/>
        <p:txBody>
          <a:bodyPr>
            <a:normAutofit fontScale="90000"/>
          </a:bodyPr>
          <a:lstStyle/>
          <a:p>
            <a:r>
              <a:rPr lang="en-IN" dirty="0"/>
              <a:t>Introduction to Basic Charts</a:t>
            </a:r>
          </a:p>
        </p:txBody>
      </p:sp>
      <p:pic>
        <p:nvPicPr>
          <p:cNvPr id="5" name="Picture 4">
            <a:extLst>
              <a:ext uri="{FF2B5EF4-FFF2-40B4-BE49-F238E27FC236}">
                <a16:creationId xmlns:a16="http://schemas.microsoft.com/office/drawing/2014/main" id="{46E2C818-6B43-66B0-2B8F-32EA5B32D9AE}"/>
              </a:ext>
            </a:extLst>
          </p:cNvPr>
          <p:cNvPicPr>
            <a:picLocks noChangeAspect="1"/>
          </p:cNvPicPr>
          <p:nvPr/>
        </p:nvPicPr>
        <p:blipFill>
          <a:blip r:embed="rId2"/>
          <a:stretch>
            <a:fillRect/>
          </a:stretch>
        </p:blipFill>
        <p:spPr>
          <a:xfrm>
            <a:off x="2612571" y="1186542"/>
            <a:ext cx="7130143" cy="4517571"/>
          </a:xfrm>
          <a:prstGeom prst="rect">
            <a:avLst/>
          </a:prstGeom>
        </p:spPr>
      </p:pic>
      <p:pic>
        <p:nvPicPr>
          <p:cNvPr id="3" name="Picture 2">
            <a:extLst>
              <a:ext uri="{FF2B5EF4-FFF2-40B4-BE49-F238E27FC236}">
                <a16:creationId xmlns:a16="http://schemas.microsoft.com/office/drawing/2014/main" id="{1FED6E45-26BB-05A5-FEC4-A7291D8F4B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1894430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9131749-4DA6-1E01-2792-08E5D7D3B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1EA054-445C-105B-019A-7F29FC4E4344}"/>
              </a:ext>
            </a:extLst>
          </p:cNvPr>
          <p:cNvSpPr>
            <a:spLocks noGrp="1"/>
          </p:cNvSpPr>
          <p:nvPr>
            <p:ph type="title"/>
          </p:nvPr>
        </p:nvSpPr>
        <p:spPr/>
        <p:txBody>
          <a:bodyPr>
            <a:normAutofit fontScale="90000"/>
          </a:bodyPr>
          <a:lstStyle/>
          <a:p>
            <a:r>
              <a:rPr lang="en-IN" dirty="0"/>
              <a:t>Introduction to Basic Charts</a:t>
            </a:r>
          </a:p>
        </p:txBody>
      </p:sp>
      <p:sp>
        <p:nvSpPr>
          <p:cNvPr id="3" name="Content Placeholder 2">
            <a:extLst>
              <a:ext uri="{FF2B5EF4-FFF2-40B4-BE49-F238E27FC236}">
                <a16:creationId xmlns:a16="http://schemas.microsoft.com/office/drawing/2014/main" id="{73414BF5-7E9F-8151-43A3-BE96E99915C0}"/>
              </a:ext>
            </a:extLst>
          </p:cNvPr>
          <p:cNvSpPr>
            <a:spLocks noGrp="1"/>
          </p:cNvSpPr>
          <p:nvPr>
            <p:ph idx="1"/>
          </p:nvPr>
        </p:nvSpPr>
        <p:spPr/>
        <p:txBody>
          <a:bodyPr>
            <a:normAutofit/>
          </a:bodyPr>
          <a:lstStyle/>
          <a:p>
            <a:pPr marL="0" indent="0">
              <a:buNone/>
            </a:pPr>
            <a:r>
              <a:rPr lang="en-IN" b="1" dirty="0"/>
              <a:t>8. Waterfall Chart</a:t>
            </a:r>
          </a:p>
          <a:p>
            <a:pPr marL="0" indent="0">
              <a:buNone/>
            </a:pPr>
            <a:endParaRPr lang="en-IN" b="1" dirty="0"/>
          </a:p>
        </p:txBody>
      </p:sp>
      <p:pic>
        <p:nvPicPr>
          <p:cNvPr id="5" name="Picture 4">
            <a:extLst>
              <a:ext uri="{FF2B5EF4-FFF2-40B4-BE49-F238E27FC236}">
                <a16:creationId xmlns:a16="http://schemas.microsoft.com/office/drawing/2014/main" id="{0831C8CA-F1D9-6C23-6AB1-73AA5BFD302A}"/>
              </a:ext>
            </a:extLst>
          </p:cNvPr>
          <p:cNvPicPr>
            <a:picLocks noChangeAspect="1"/>
          </p:cNvPicPr>
          <p:nvPr/>
        </p:nvPicPr>
        <p:blipFill>
          <a:blip r:embed="rId2"/>
          <a:stretch>
            <a:fillRect/>
          </a:stretch>
        </p:blipFill>
        <p:spPr>
          <a:xfrm>
            <a:off x="1714275" y="1692166"/>
            <a:ext cx="8763450" cy="4235668"/>
          </a:xfrm>
          <a:prstGeom prst="rect">
            <a:avLst/>
          </a:prstGeom>
        </p:spPr>
      </p:pic>
      <p:pic>
        <p:nvPicPr>
          <p:cNvPr id="4" name="Picture 3">
            <a:extLst>
              <a:ext uri="{FF2B5EF4-FFF2-40B4-BE49-F238E27FC236}">
                <a16:creationId xmlns:a16="http://schemas.microsoft.com/office/drawing/2014/main" id="{BBE24CD7-A130-8CF2-423E-D6E696354E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8449564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8D5F6AF-17A7-5631-858A-44AEE887FB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A600D2-80EC-A39F-3CD9-E3E2C2A80BC6}"/>
              </a:ext>
            </a:extLst>
          </p:cNvPr>
          <p:cNvSpPr>
            <a:spLocks noGrp="1"/>
          </p:cNvSpPr>
          <p:nvPr>
            <p:ph type="title"/>
          </p:nvPr>
        </p:nvSpPr>
        <p:spPr/>
        <p:txBody>
          <a:bodyPr>
            <a:normAutofit fontScale="90000"/>
          </a:bodyPr>
          <a:lstStyle/>
          <a:p>
            <a:r>
              <a:rPr lang="en-IN" dirty="0"/>
              <a:t>Introduction to Basic Charts</a:t>
            </a:r>
          </a:p>
        </p:txBody>
      </p:sp>
      <p:sp>
        <p:nvSpPr>
          <p:cNvPr id="3" name="Content Placeholder 2">
            <a:extLst>
              <a:ext uri="{FF2B5EF4-FFF2-40B4-BE49-F238E27FC236}">
                <a16:creationId xmlns:a16="http://schemas.microsoft.com/office/drawing/2014/main" id="{627DBC34-89E4-7295-F3DA-DA988437C530}"/>
              </a:ext>
            </a:extLst>
          </p:cNvPr>
          <p:cNvSpPr>
            <a:spLocks noGrp="1"/>
          </p:cNvSpPr>
          <p:nvPr>
            <p:ph idx="1"/>
          </p:nvPr>
        </p:nvSpPr>
        <p:spPr/>
        <p:txBody>
          <a:bodyPr>
            <a:normAutofit/>
          </a:bodyPr>
          <a:lstStyle/>
          <a:p>
            <a:pPr marL="0" indent="0">
              <a:buNone/>
            </a:pPr>
            <a:r>
              <a:rPr lang="en-IN" b="1" dirty="0"/>
              <a:t>8. Waterfall Chart</a:t>
            </a:r>
          </a:p>
          <a:p>
            <a:pPr marL="0" indent="0">
              <a:buNone/>
            </a:pPr>
            <a:endParaRPr lang="en-IN" b="1" dirty="0"/>
          </a:p>
        </p:txBody>
      </p:sp>
      <p:pic>
        <p:nvPicPr>
          <p:cNvPr id="71682" name="Picture 2" descr="Power BI - How to Create a Waterfall Chart? - GeeksforGeeks">
            <a:extLst>
              <a:ext uri="{FF2B5EF4-FFF2-40B4-BE49-F238E27FC236}">
                <a16:creationId xmlns:a16="http://schemas.microsoft.com/office/drawing/2014/main" id="{B6B59B8B-6484-08AC-32DB-14F63CF6AE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0982" y="1576388"/>
            <a:ext cx="8820150" cy="46005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87A2DC8-2E0D-8731-F058-A0E42BCB62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26946553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E259392-74A0-D2F3-623A-F74CD3C3E7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2CEF82-7C13-B077-0062-2CD16A859469}"/>
              </a:ext>
            </a:extLst>
          </p:cNvPr>
          <p:cNvSpPr>
            <a:spLocks noGrp="1"/>
          </p:cNvSpPr>
          <p:nvPr>
            <p:ph type="title"/>
          </p:nvPr>
        </p:nvSpPr>
        <p:spPr/>
        <p:txBody>
          <a:bodyPr>
            <a:normAutofit fontScale="90000"/>
          </a:bodyPr>
          <a:lstStyle/>
          <a:p>
            <a:r>
              <a:rPr lang="en-IN" dirty="0"/>
              <a:t>Introduction to Basic Charts</a:t>
            </a:r>
          </a:p>
        </p:txBody>
      </p:sp>
      <p:sp>
        <p:nvSpPr>
          <p:cNvPr id="3" name="Content Placeholder 2">
            <a:extLst>
              <a:ext uri="{FF2B5EF4-FFF2-40B4-BE49-F238E27FC236}">
                <a16:creationId xmlns:a16="http://schemas.microsoft.com/office/drawing/2014/main" id="{FD9AFF8B-DBF2-4841-430F-DA1EEF247631}"/>
              </a:ext>
            </a:extLst>
          </p:cNvPr>
          <p:cNvSpPr>
            <a:spLocks noGrp="1"/>
          </p:cNvSpPr>
          <p:nvPr>
            <p:ph idx="1"/>
          </p:nvPr>
        </p:nvSpPr>
        <p:spPr/>
        <p:txBody>
          <a:bodyPr>
            <a:normAutofit/>
          </a:bodyPr>
          <a:lstStyle/>
          <a:p>
            <a:pPr marL="0" indent="0">
              <a:buNone/>
            </a:pPr>
            <a:r>
              <a:rPr lang="en-IN" b="1" dirty="0"/>
              <a:t>9. Gauge Chart</a:t>
            </a:r>
          </a:p>
          <a:p>
            <a:pPr marL="0" indent="0">
              <a:buNone/>
            </a:pPr>
            <a:endParaRPr lang="en-IN" b="1" dirty="0"/>
          </a:p>
        </p:txBody>
      </p:sp>
      <p:pic>
        <p:nvPicPr>
          <p:cNvPr id="6" name="Picture 5">
            <a:extLst>
              <a:ext uri="{FF2B5EF4-FFF2-40B4-BE49-F238E27FC236}">
                <a16:creationId xmlns:a16="http://schemas.microsoft.com/office/drawing/2014/main" id="{9CA4D411-13F5-3623-52C6-00113F9E8757}"/>
              </a:ext>
            </a:extLst>
          </p:cNvPr>
          <p:cNvPicPr>
            <a:picLocks noChangeAspect="1"/>
          </p:cNvPicPr>
          <p:nvPr/>
        </p:nvPicPr>
        <p:blipFill>
          <a:blip r:embed="rId2"/>
          <a:stretch>
            <a:fillRect/>
          </a:stretch>
        </p:blipFill>
        <p:spPr>
          <a:xfrm>
            <a:off x="1524000" y="1884099"/>
            <a:ext cx="5740059" cy="1435174"/>
          </a:xfrm>
          <a:prstGeom prst="rect">
            <a:avLst/>
          </a:prstGeom>
        </p:spPr>
      </p:pic>
      <p:pic>
        <p:nvPicPr>
          <p:cNvPr id="8" name="Picture 7">
            <a:extLst>
              <a:ext uri="{FF2B5EF4-FFF2-40B4-BE49-F238E27FC236}">
                <a16:creationId xmlns:a16="http://schemas.microsoft.com/office/drawing/2014/main" id="{CD4FC9CF-232C-02F9-29DB-D58802F090E0}"/>
              </a:ext>
            </a:extLst>
          </p:cNvPr>
          <p:cNvPicPr>
            <a:picLocks noChangeAspect="1"/>
          </p:cNvPicPr>
          <p:nvPr/>
        </p:nvPicPr>
        <p:blipFill>
          <a:blip r:embed="rId3"/>
          <a:stretch>
            <a:fillRect/>
          </a:stretch>
        </p:blipFill>
        <p:spPr>
          <a:xfrm>
            <a:off x="1915886" y="3258967"/>
            <a:ext cx="7238999" cy="2978303"/>
          </a:xfrm>
          <a:prstGeom prst="rect">
            <a:avLst/>
          </a:prstGeom>
        </p:spPr>
      </p:pic>
      <p:pic>
        <p:nvPicPr>
          <p:cNvPr id="4" name="Picture 3">
            <a:extLst>
              <a:ext uri="{FF2B5EF4-FFF2-40B4-BE49-F238E27FC236}">
                <a16:creationId xmlns:a16="http://schemas.microsoft.com/office/drawing/2014/main" id="{F5DC0E36-B863-EB3A-56AA-734645B4DD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42309622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951EED1-A2D3-CD70-F06D-707867C9B1B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F699AA0-7B34-53D2-532E-C6436B9E7AC5}"/>
              </a:ext>
            </a:extLst>
          </p:cNvPr>
          <p:cNvSpPr txBox="1"/>
          <p:nvPr/>
        </p:nvSpPr>
        <p:spPr>
          <a:xfrm>
            <a:off x="1524000" y="2682440"/>
            <a:ext cx="9144000" cy="746560"/>
          </a:xfrm>
          <a:prstGeom prst="rect">
            <a:avLst/>
          </a:prstGeom>
          <a:solidFill>
            <a:srgbClr val="7030A0"/>
          </a:solidFill>
          <a:ln>
            <a:noFill/>
          </a:ln>
        </p:spPr>
        <p:txBody>
          <a:bodyPr vert="horz" lIns="68580" tIns="34290" rIns="68580" bIns="34290" rtlCol="0" anchor="ctr">
            <a:noAutofit/>
          </a:bodyPr>
          <a:lstStyle>
            <a:lvl1pPr algn="ctr" defTabSz="914400" rtl="0" eaLnBrk="1" latinLnBrk="0" hangingPunct="1">
              <a:lnSpc>
                <a:spcPct val="90000"/>
              </a:lnSpc>
              <a:spcBef>
                <a:spcPct val="0"/>
              </a:spcBef>
              <a:buNone/>
              <a:defRPr sz="3600" b="0" kern="1200">
                <a:solidFill>
                  <a:schemeClr val="bg1"/>
                </a:solidFill>
                <a:effectLst>
                  <a:outerShdw blurRad="38100" dist="38100" dir="2700000" algn="tl">
                    <a:srgbClr val="000000">
                      <a:alpha val="43137"/>
                    </a:srgbClr>
                  </a:outerShdw>
                </a:effectLst>
                <a:latin typeface="+mj-lt"/>
                <a:ea typeface="Open Sans" pitchFamily="34" charset="0"/>
                <a:cs typeface="Open Sans" pitchFamily="34" charset="0"/>
              </a:defRPr>
            </a:lvl1pPr>
          </a:lstStyle>
          <a:p>
            <a:pPr fontAlgn="base">
              <a:lnSpc>
                <a:spcPct val="100000"/>
              </a:lnSpc>
              <a:spcAft>
                <a:spcPct val="0"/>
              </a:spcAft>
            </a:pPr>
            <a:r>
              <a:rPr lang="en-US" sz="4000" b="1" dirty="0">
                <a:solidFill>
                  <a:prstClr val="white"/>
                </a:solidFill>
                <a:latin typeface="Arial Black" panose="020B0A04020102020204" pitchFamily="34" charset="0"/>
                <a:ea typeface="Adobe Heiti Std R" panose="020B0400000000000000" pitchFamily="34" charset="-128"/>
              </a:rPr>
              <a:t>Unit 4</a:t>
            </a:r>
          </a:p>
        </p:txBody>
      </p:sp>
      <p:pic>
        <p:nvPicPr>
          <p:cNvPr id="2" name="Picture 1">
            <a:extLst>
              <a:ext uri="{FF2B5EF4-FFF2-40B4-BE49-F238E27FC236}">
                <a16:creationId xmlns:a16="http://schemas.microsoft.com/office/drawing/2014/main" id="{5CEDD1BE-97FB-989F-4A73-B80A2F6D0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445813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AA3057C-919B-B0D1-3797-CD9CB27BC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FFAFA-9A53-5C07-C5CA-02C6C779AA45}"/>
              </a:ext>
            </a:extLst>
          </p:cNvPr>
          <p:cNvSpPr>
            <a:spLocks noGrp="1"/>
          </p:cNvSpPr>
          <p:nvPr>
            <p:ph type="title"/>
          </p:nvPr>
        </p:nvSpPr>
        <p:spPr/>
        <p:txBody>
          <a:bodyPr>
            <a:normAutofit fontScale="90000"/>
          </a:bodyPr>
          <a:lstStyle/>
          <a:p>
            <a:r>
              <a:rPr lang="en-US" dirty="0"/>
              <a:t>Slicers in Power BI</a:t>
            </a:r>
            <a:endParaRPr lang="en-IN" dirty="0"/>
          </a:p>
        </p:txBody>
      </p:sp>
      <p:sp>
        <p:nvSpPr>
          <p:cNvPr id="3" name="Content Placeholder 2">
            <a:extLst>
              <a:ext uri="{FF2B5EF4-FFF2-40B4-BE49-F238E27FC236}">
                <a16:creationId xmlns:a16="http://schemas.microsoft.com/office/drawing/2014/main" id="{08F4F658-FF3F-4357-4AB7-6F959D390FB6}"/>
              </a:ext>
            </a:extLst>
          </p:cNvPr>
          <p:cNvSpPr>
            <a:spLocks noGrp="1"/>
          </p:cNvSpPr>
          <p:nvPr>
            <p:ph idx="1"/>
          </p:nvPr>
        </p:nvSpPr>
        <p:spPr/>
        <p:txBody>
          <a:bodyPr/>
          <a:lstStyle/>
          <a:p>
            <a:r>
              <a:rPr lang="en-US" dirty="0"/>
              <a:t>Slicers are interactive visual filters that allow users to dynamically filter data within a report. </a:t>
            </a:r>
          </a:p>
          <a:p>
            <a:r>
              <a:rPr lang="en-US" dirty="0"/>
              <a:t>Unlike filters in the "Filters" pane, slicers are placed directly on the report canvas, providing a more intuitive and user-friendly filtering experience. </a:t>
            </a:r>
          </a:p>
          <a:p>
            <a:r>
              <a:rPr lang="en-US" dirty="0"/>
              <a:t>Slicers are particularly useful for exploring data and allowing report consumers to customize their view of the data.</a:t>
            </a:r>
            <a:endParaRPr lang="en-IN" dirty="0"/>
          </a:p>
        </p:txBody>
      </p:sp>
      <p:pic>
        <p:nvPicPr>
          <p:cNvPr id="4" name="Picture 3">
            <a:extLst>
              <a:ext uri="{FF2B5EF4-FFF2-40B4-BE49-F238E27FC236}">
                <a16:creationId xmlns:a16="http://schemas.microsoft.com/office/drawing/2014/main" id="{A6B5D34C-E9BC-5381-B424-01CE99D59F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22705929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B45787D-B7C4-D6FA-B611-5698C4C7BE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5B5D40-2044-17B3-A877-CF169447A1FF}"/>
              </a:ext>
            </a:extLst>
          </p:cNvPr>
          <p:cNvSpPr>
            <a:spLocks noGrp="1"/>
          </p:cNvSpPr>
          <p:nvPr>
            <p:ph type="title"/>
          </p:nvPr>
        </p:nvSpPr>
        <p:spPr/>
        <p:txBody>
          <a:bodyPr>
            <a:normAutofit fontScale="90000"/>
          </a:bodyPr>
          <a:lstStyle/>
          <a:p>
            <a:r>
              <a:rPr lang="en-US" dirty="0"/>
              <a:t>Slicers in Power BI</a:t>
            </a:r>
            <a:endParaRPr lang="en-IN" dirty="0"/>
          </a:p>
        </p:txBody>
      </p:sp>
      <p:sp>
        <p:nvSpPr>
          <p:cNvPr id="3" name="Content Placeholder 2">
            <a:extLst>
              <a:ext uri="{FF2B5EF4-FFF2-40B4-BE49-F238E27FC236}">
                <a16:creationId xmlns:a16="http://schemas.microsoft.com/office/drawing/2014/main" id="{171BE096-AB5C-D022-9A9F-3609D13CA788}"/>
              </a:ext>
            </a:extLst>
          </p:cNvPr>
          <p:cNvSpPr>
            <a:spLocks noGrp="1"/>
          </p:cNvSpPr>
          <p:nvPr>
            <p:ph idx="1"/>
          </p:nvPr>
        </p:nvSpPr>
        <p:spPr/>
        <p:txBody>
          <a:bodyPr>
            <a:normAutofit fontScale="92500" lnSpcReduction="10000"/>
          </a:bodyPr>
          <a:lstStyle/>
          <a:p>
            <a:pPr marL="0" indent="0">
              <a:buNone/>
            </a:pPr>
            <a:r>
              <a:rPr lang="en-US" b="1" dirty="0"/>
              <a:t>Types of Slicers:</a:t>
            </a:r>
          </a:p>
          <a:p>
            <a:endParaRPr lang="en-US" dirty="0"/>
          </a:p>
          <a:p>
            <a:pPr marL="0" indent="0">
              <a:buNone/>
            </a:pPr>
            <a:r>
              <a:rPr lang="en-US" dirty="0"/>
              <a:t>Power BI offers different types of slicers to suit various data types and user preferences: </a:t>
            </a:r>
          </a:p>
          <a:p>
            <a:pPr marL="0" indent="0">
              <a:buNone/>
            </a:pPr>
            <a:endParaRPr lang="en-US" dirty="0"/>
          </a:p>
          <a:p>
            <a:pPr marL="0" indent="0">
              <a:buNone/>
            </a:pPr>
            <a:r>
              <a:rPr lang="en-US" dirty="0"/>
              <a:t>• List slicer: Displays a list of values to choose from. </a:t>
            </a:r>
          </a:p>
          <a:p>
            <a:pPr marL="0" indent="0">
              <a:buNone/>
            </a:pPr>
            <a:r>
              <a:rPr lang="en-US" dirty="0"/>
              <a:t>• Dropdown slicer: Presents values in a dropdown menu, saving space on the report canvas. </a:t>
            </a:r>
          </a:p>
          <a:p>
            <a:pPr marL="0" indent="0">
              <a:buNone/>
            </a:pPr>
            <a:r>
              <a:rPr lang="en-US" dirty="0"/>
              <a:t>• Date slicer: Allows users to select a date range. </a:t>
            </a:r>
          </a:p>
          <a:p>
            <a:pPr marL="0" indent="0">
              <a:buNone/>
            </a:pPr>
            <a:r>
              <a:rPr lang="en-US" dirty="0"/>
              <a:t>• Relative date slicer: Provides options for filtering data based on relative date ranges (e.g., "last week," "this month"). </a:t>
            </a:r>
          </a:p>
          <a:p>
            <a:pPr marL="0" indent="0">
              <a:buNone/>
            </a:pPr>
            <a:r>
              <a:rPr lang="en-US" dirty="0"/>
              <a:t>• Numeric range slicer: Enables users to select a range of numeric values.</a:t>
            </a:r>
            <a:endParaRPr lang="en-IN" dirty="0"/>
          </a:p>
        </p:txBody>
      </p:sp>
      <p:pic>
        <p:nvPicPr>
          <p:cNvPr id="4" name="Picture 3">
            <a:extLst>
              <a:ext uri="{FF2B5EF4-FFF2-40B4-BE49-F238E27FC236}">
                <a16:creationId xmlns:a16="http://schemas.microsoft.com/office/drawing/2014/main" id="{868D4A16-AD73-10BB-B7A4-0F8BABD521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3000501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5BA676-5EA9-F89D-55C0-A1F313940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8E1B25-6F50-31B7-1DCD-1C227322144F}"/>
              </a:ext>
            </a:extLst>
          </p:cNvPr>
          <p:cNvSpPr>
            <a:spLocks noGrp="1"/>
          </p:cNvSpPr>
          <p:nvPr>
            <p:ph type="title"/>
          </p:nvPr>
        </p:nvSpPr>
        <p:spPr/>
        <p:txBody>
          <a:bodyPr>
            <a:normAutofit fontScale="90000"/>
          </a:bodyPr>
          <a:lstStyle/>
          <a:p>
            <a:r>
              <a:rPr lang="en-US" dirty="0"/>
              <a:t>Slicers in Power BI</a:t>
            </a:r>
            <a:endParaRPr lang="en-IN" dirty="0"/>
          </a:p>
        </p:txBody>
      </p:sp>
      <p:sp>
        <p:nvSpPr>
          <p:cNvPr id="3" name="Content Placeholder 2">
            <a:extLst>
              <a:ext uri="{FF2B5EF4-FFF2-40B4-BE49-F238E27FC236}">
                <a16:creationId xmlns:a16="http://schemas.microsoft.com/office/drawing/2014/main" id="{7A0AB36C-EDF3-3CDC-EBEC-FD1F5918E597}"/>
              </a:ext>
            </a:extLst>
          </p:cNvPr>
          <p:cNvSpPr>
            <a:spLocks noGrp="1"/>
          </p:cNvSpPr>
          <p:nvPr>
            <p:ph idx="1"/>
          </p:nvPr>
        </p:nvSpPr>
        <p:spPr/>
        <p:txBody>
          <a:bodyPr>
            <a:normAutofit fontScale="85000" lnSpcReduction="20000"/>
          </a:bodyPr>
          <a:lstStyle/>
          <a:p>
            <a:pPr marL="0" indent="0">
              <a:buNone/>
            </a:pPr>
            <a:r>
              <a:rPr lang="en-US" b="1" dirty="0"/>
              <a:t>Example of Using Slicers: </a:t>
            </a:r>
          </a:p>
          <a:p>
            <a:pPr marL="0" indent="0">
              <a:buNone/>
            </a:pPr>
            <a:endParaRPr lang="en-US" b="1" dirty="0"/>
          </a:p>
          <a:p>
            <a:pPr marL="0" indent="0">
              <a:buNone/>
            </a:pPr>
            <a:r>
              <a:rPr lang="en-US" dirty="0"/>
              <a:t>Continuing with the sales data example, let's add slicers to the report: </a:t>
            </a:r>
          </a:p>
          <a:p>
            <a:pPr marL="0" indent="0">
              <a:buNone/>
            </a:pPr>
            <a:r>
              <a:rPr lang="en-US" dirty="0"/>
              <a:t>1. Add a slicer for "Product Category": From the "Visualizations" pane, select the "Slicer" visual. Drag the "Product Category" field to the slicer. The slicer will display a list of product categories, allowing users to select one or more categories to filter the data. </a:t>
            </a:r>
          </a:p>
          <a:p>
            <a:pPr marL="0" indent="0">
              <a:buNone/>
            </a:pPr>
            <a:endParaRPr lang="en-US" dirty="0"/>
          </a:p>
          <a:p>
            <a:pPr marL="0" indent="0">
              <a:buNone/>
            </a:pPr>
            <a:r>
              <a:rPr lang="en-US" dirty="0"/>
              <a:t>2. Add a slicer for "Region": Add another slicer and drag the "Region" field to it. This slicer will allow users to filter the data by region. </a:t>
            </a:r>
          </a:p>
          <a:p>
            <a:pPr marL="0" indent="0">
              <a:buNone/>
            </a:pPr>
            <a:endParaRPr lang="en-US" dirty="0"/>
          </a:p>
          <a:p>
            <a:pPr marL="0" indent="0">
              <a:buNone/>
            </a:pPr>
            <a:r>
              <a:rPr lang="en-US" dirty="0"/>
              <a:t>3. Add a date slicer: Add a slicer and drag the "Date" field to it. Configure the slicer to display a date range, allowing users to filter the data by a specific time period. Now, users can interact with the slicers to dynamically filter the data and explore different subsets of the sales data.</a:t>
            </a:r>
            <a:endParaRPr lang="en-IN" dirty="0"/>
          </a:p>
        </p:txBody>
      </p:sp>
      <p:pic>
        <p:nvPicPr>
          <p:cNvPr id="4" name="Picture 3">
            <a:extLst>
              <a:ext uri="{FF2B5EF4-FFF2-40B4-BE49-F238E27FC236}">
                <a16:creationId xmlns:a16="http://schemas.microsoft.com/office/drawing/2014/main" id="{F4508541-4E03-3276-4922-FE99D63CD8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30833054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77A7044-1DB8-E19D-AC3B-3D0516ECF3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62A6C6-04E4-2271-26E1-AE381F1EA95B}"/>
              </a:ext>
            </a:extLst>
          </p:cNvPr>
          <p:cNvSpPr>
            <a:spLocks noGrp="1"/>
          </p:cNvSpPr>
          <p:nvPr>
            <p:ph type="title"/>
          </p:nvPr>
        </p:nvSpPr>
        <p:spPr/>
        <p:txBody>
          <a:bodyPr>
            <a:normAutofit fontScale="90000"/>
          </a:bodyPr>
          <a:lstStyle/>
          <a:p>
            <a:r>
              <a:rPr lang="en-US" dirty="0"/>
              <a:t>Slicers in Power BI</a:t>
            </a:r>
            <a:endParaRPr lang="en-IN" dirty="0"/>
          </a:p>
        </p:txBody>
      </p:sp>
      <p:pic>
        <p:nvPicPr>
          <p:cNvPr id="5" name="Content Placeholder 4">
            <a:extLst>
              <a:ext uri="{FF2B5EF4-FFF2-40B4-BE49-F238E27FC236}">
                <a16:creationId xmlns:a16="http://schemas.microsoft.com/office/drawing/2014/main" id="{C295D9A7-B7D4-7DB6-3C61-357A796E1145}"/>
              </a:ext>
            </a:extLst>
          </p:cNvPr>
          <p:cNvPicPr>
            <a:picLocks noGrp="1" noChangeAspect="1"/>
          </p:cNvPicPr>
          <p:nvPr>
            <p:ph idx="1"/>
          </p:nvPr>
        </p:nvPicPr>
        <p:blipFill>
          <a:blip r:embed="rId2"/>
          <a:stretch>
            <a:fillRect/>
          </a:stretch>
        </p:blipFill>
        <p:spPr>
          <a:xfrm>
            <a:off x="1491343" y="1143000"/>
            <a:ext cx="9296400" cy="4620528"/>
          </a:xfrm>
          <a:prstGeom prst="rect">
            <a:avLst/>
          </a:prstGeom>
        </p:spPr>
      </p:pic>
      <p:pic>
        <p:nvPicPr>
          <p:cNvPr id="3" name="Picture 2">
            <a:extLst>
              <a:ext uri="{FF2B5EF4-FFF2-40B4-BE49-F238E27FC236}">
                <a16:creationId xmlns:a16="http://schemas.microsoft.com/office/drawing/2014/main" id="{7B4A0E12-4053-442D-BF54-5003A515E4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12656717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CDD866-F22B-C801-695F-4EE091F198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42579E-6F99-7627-E981-A94FD699BE95}"/>
              </a:ext>
            </a:extLst>
          </p:cNvPr>
          <p:cNvSpPr>
            <a:spLocks noGrp="1"/>
          </p:cNvSpPr>
          <p:nvPr>
            <p:ph type="title"/>
          </p:nvPr>
        </p:nvSpPr>
        <p:spPr/>
        <p:txBody>
          <a:bodyPr>
            <a:normAutofit fontScale="90000"/>
          </a:bodyPr>
          <a:lstStyle/>
          <a:p>
            <a:r>
              <a:rPr lang="en-IN" dirty="0"/>
              <a:t>Filters in Power BI</a:t>
            </a:r>
          </a:p>
        </p:txBody>
      </p:sp>
      <p:sp>
        <p:nvSpPr>
          <p:cNvPr id="3" name="Content Placeholder 2">
            <a:extLst>
              <a:ext uri="{FF2B5EF4-FFF2-40B4-BE49-F238E27FC236}">
                <a16:creationId xmlns:a16="http://schemas.microsoft.com/office/drawing/2014/main" id="{EEA3C90F-989E-61F4-06AD-558967A81761}"/>
              </a:ext>
            </a:extLst>
          </p:cNvPr>
          <p:cNvSpPr>
            <a:spLocks noGrp="1"/>
          </p:cNvSpPr>
          <p:nvPr>
            <p:ph idx="1"/>
          </p:nvPr>
        </p:nvSpPr>
        <p:spPr/>
        <p:txBody>
          <a:bodyPr>
            <a:normAutofit fontScale="92500" lnSpcReduction="10000"/>
          </a:bodyPr>
          <a:lstStyle/>
          <a:p>
            <a:pPr marL="0" indent="0">
              <a:buNone/>
            </a:pPr>
            <a:r>
              <a:rPr lang="en-US" b="1" dirty="0"/>
              <a:t>Types of Filters:</a:t>
            </a:r>
          </a:p>
          <a:p>
            <a:pPr marL="0" indent="0">
              <a:buNone/>
            </a:pPr>
            <a:endParaRPr lang="en-US" dirty="0"/>
          </a:p>
          <a:p>
            <a:pPr marL="0" indent="0">
              <a:buNone/>
            </a:pPr>
            <a:r>
              <a:rPr lang="en-US" dirty="0"/>
              <a:t>Power BI offers various filter types to cater to different data types and analytical needs: </a:t>
            </a:r>
          </a:p>
          <a:p>
            <a:pPr marL="0" indent="0">
              <a:buNone/>
            </a:pPr>
            <a:endParaRPr lang="en-US" dirty="0"/>
          </a:p>
          <a:p>
            <a:pPr marL="0" indent="0">
              <a:buNone/>
            </a:pPr>
            <a:r>
              <a:rPr lang="en-US" b="1" dirty="0"/>
              <a:t>• Basic filtering:</a:t>
            </a:r>
            <a:r>
              <a:rPr lang="en-US" dirty="0"/>
              <a:t> Allows you to select specific values from a list. </a:t>
            </a:r>
          </a:p>
          <a:p>
            <a:pPr marL="0" indent="0">
              <a:buNone/>
            </a:pPr>
            <a:r>
              <a:rPr lang="en-US" dirty="0"/>
              <a:t>• </a:t>
            </a:r>
            <a:r>
              <a:rPr lang="en-US" b="1" dirty="0"/>
              <a:t>Advanced filtering: </a:t>
            </a:r>
            <a:r>
              <a:rPr lang="en-US" dirty="0"/>
              <a:t>Enables you to create more complex filtering conditions using operators like "contains," "starts with," "is blank," etc. </a:t>
            </a:r>
          </a:p>
          <a:p>
            <a:pPr marL="0" indent="0">
              <a:buNone/>
            </a:pPr>
            <a:r>
              <a:rPr lang="en-US" dirty="0"/>
              <a:t>• </a:t>
            </a:r>
            <a:r>
              <a:rPr lang="en-US" b="1" dirty="0"/>
              <a:t>Top N filtering: </a:t>
            </a:r>
            <a:r>
              <a:rPr lang="en-US" dirty="0"/>
              <a:t>Displays only the top or bottom N values based on a specified measure. </a:t>
            </a:r>
          </a:p>
          <a:p>
            <a:pPr marL="0" indent="0">
              <a:buNone/>
            </a:pPr>
            <a:r>
              <a:rPr lang="en-US" dirty="0"/>
              <a:t>• </a:t>
            </a:r>
            <a:r>
              <a:rPr lang="en-US" b="1" dirty="0"/>
              <a:t>Relative date filtering: </a:t>
            </a:r>
            <a:r>
              <a:rPr lang="en-US" dirty="0"/>
              <a:t>Filters data based on a relative date range, such as "last month," "this year," or "next quarter."</a:t>
            </a:r>
            <a:endParaRPr lang="en-IN" dirty="0"/>
          </a:p>
        </p:txBody>
      </p:sp>
      <p:pic>
        <p:nvPicPr>
          <p:cNvPr id="4" name="Picture 3">
            <a:extLst>
              <a:ext uri="{FF2B5EF4-FFF2-40B4-BE49-F238E27FC236}">
                <a16:creationId xmlns:a16="http://schemas.microsoft.com/office/drawing/2014/main" id="{30C2EA08-1D72-B20F-D7E5-28EED5F5F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20008286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3174944-0289-96C8-69B3-AF85B4322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658E04-371E-5EFC-7438-417440328E21}"/>
              </a:ext>
            </a:extLst>
          </p:cNvPr>
          <p:cNvSpPr>
            <a:spLocks noGrp="1"/>
          </p:cNvSpPr>
          <p:nvPr>
            <p:ph type="title"/>
          </p:nvPr>
        </p:nvSpPr>
        <p:spPr/>
        <p:txBody>
          <a:bodyPr>
            <a:normAutofit fontScale="90000"/>
          </a:bodyPr>
          <a:lstStyle/>
          <a:p>
            <a:r>
              <a:rPr lang="en-IN" dirty="0"/>
              <a:t>Filters in Power BI</a:t>
            </a:r>
          </a:p>
        </p:txBody>
      </p:sp>
      <p:sp>
        <p:nvSpPr>
          <p:cNvPr id="3" name="Content Placeholder 2">
            <a:extLst>
              <a:ext uri="{FF2B5EF4-FFF2-40B4-BE49-F238E27FC236}">
                <a16:creationId xmlns:a16="http://schemas.microsoft.com/office/drawing/2014/main" id="{57D4F4AC-D970-78F8-9C7F-E1A9C01C5408}"/>
              </a:ext>
            </a:extLst>
          </p:cNvPr>
          <p:cNvSpPr>
            <a:spLocks noGrp="1"/>
          </p:cNvSpPr>
          <p:nvPr>
            <p:ph idx="1"/>
          </p:nvPr>
        </p:nvSpPr>
        <p:spPr/>
        <p:txBody>
          <a:bodyPr>
            <a:normAutofit lnSpcReduction="10000"/>
          </a:bodyPr>
          <a:lstStyle/>
          <a:p>
            <a:pPr marL="0" indent="0" algn="just">
              <a:buNone/>
            </a:pPr>
            <a:r>
              <a:rPr lang="en-US" b="1" dirty="0"/>
              <a:t>Example of Applying Filters: </a:t>
            </a:r>
          </a:p>
          <a:p>
            <a:pPr marL="0" indent="0" algn="just">
              <a:buNone/>
            </a:pPr>
            <a:r>
              <a:rPr lang="en-US" dirty="0"/>
              <a:t>Let's say you have a dataset containing sales data for different products across various regions. You want to analyze the sales performance of a specific product category in a particular region. </a:t>
            </a:r>
          </a:p>
          <a:p>
            <a:pPr marL="0" indent="0" algn="just">
              <a:buNone/>
            </a:pPr>
            <a:r>
              <a:rPr lang="en-US" b="1" dirty="0"/>
              <a:t>1. Visual-level filter: </a:t>
            </a:r>
            <a:r>
              <a:rPr lang="en-US" dirty="0"/>
              <a:t>Select the visual displaying sales data. In the "Filters" pane, locate the "Product Category" field and apply a basic filter to select the desired category (e.g., "Electronics"). </a:t>
            </a:r>
          </a:p>
          <a:p>
            <a:pPr marL="0" indent="0" algn="just">
              <a:buNone/>
            </a:pPr>
            <a:r>
              <a:rPr lang="en-US" b="1" dirty="0"/>
              <a:t>2. Page-level filter: </a:t>
            </a:r>
            <a:r>
              <a:rPr lang="en-US" dirty="0"/>
              <a:t>To filter all visuals on the page to show only data for a specific region, drag the "Region" field to the "Filters on this page" section and select the desired region (e.g., "North America"). </a:t>
            </a:r>
          </a:p>
          <a:p>
            <a:pPr marL="0" indent="0" algn="just">
              <a:buNone/>
            </a:pPr>
            <a:r>
              <a:rPr lang="en-US" b="1" dirty="0"/>
              <a:t>3. Report-level filter: </a:t>
            </a:r>
            <a:r>
              <a:rPr lang="en-US" dirty="0"/>
              <a:t>If you want to analyze the data for a specific year across the entire report, drag the "Year" field to the "Filters on all pages" section and select the desired year (e.g., "2023").</a:t>
            </a:r>
            <a:endParaRPr lang="en-IN" dirty="0"/>
          </a:p>
        </p:txBody>
      </p:sp>
      <p:pic>
        <p:nvPicPr>
          <p:cNvPr id="4" name="Picture 3">
            <a:extLst>
              <a:ext uri="{FF2B5EF4-FFF2-40B4-BE49-F238E27FC236}">
                <a16:creationId xmlns:a16="http://schemas.microsoft.com/office/drawing/2014/main" id="{DFC4D6EF-B711-EFFD-964D-0D4728BF93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20330220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16B27CB-DA0B-3566-08E3-C74A5BCA8C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2EC303-DD00-21AD-51F8-95A1A6763E55}"/>
              </a:ext>
            </a:extLst>
          </p:cNvPr>
          <p:cNvSpPr>
            <a:spLocks noGrp="1"/>
          </p:cNvSpPr>
          <p:nvPr>
            <p:ph type="title"/>
          </p:nvPr>
        </p:nvSpPr>
        <p:spPr/>
        <p:txBody>
          <a:bodyPr>
            <a:normAutofit fontScale="90000"/>
          </a:bodyPr>
          <a:lstStyle/>
          <a:p>
            <a:r>
              <a:rPr lang="en-IN" dirty="0"/>
              <a:t>Slicers and Filters in Power BI</a:t>
            </a:r>
          </a:p>
        </p:txBody>
      </p:sp>
      <p:pic>
        <p:nvPicPr>
          <p:cNvPr id="5" name="Content Placeholder 4">
            <a:extLst>
              <a:ext uri="{FF2B5EF4-FFF2-40B4-BE49-F238E27FC236}">
                <a16:creationId xmlns:a16="http://schemas.microsoft.com/office/drawing/2014/main" id="{EDEC52A6-0F51-B153-8297-976AFFB96A02}"/>
              </a:ext>
            </a:extLst>
          </p:cNvPr>
          <p:cNvPicPr>
            <a:picLocks noGrp="1" noChangeAspect="1"/>
          </p:cNvPicPr>
          <p:nvPr>
            <p:ph idx="1"/>
          </p:nvPr>
        </p:nvPicPr>
        <p:blipFill>
          <a:blip r:embed="rId2"/>
          <a:stretch>
            <a:fillRect/>
          </a:stretch>
        </p:blipFill>
        <p:spPr>
          <a:xfrm>
            <a:off x="1088571" y="1077686"/>
            <a:ext cx="10265229" cy="4565186"/>
          </a:xfrm>
          <a:prstGeom prst="rect">
            <a:avLst/>
          </a:prstGeom>
        </p:spPr>
      </p:pic>
      <p:pic>
        <p:nvPicPr>
          <p:cNvPr id="3" name="Picture 2">
            <a:extLst>
              <a:ext uri="{FF2B5EF4-FFF2-40B4-BE49-F238E27FC236}">
                <a16:creationId xmlns:a16="http://schemas.microsoft.com/office/drawing/2014/main" id="{1C572EB1-5315-5FC1-889C-92E3AE5B96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21670092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36C1A85-454D-DC10-6B33-D0395EEFBCA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CD86778-2D6C-881C-2EB0-1302F75019AE}"/>
              </a:ext>
            </a:extLst>
          </p:cNvPr>
          <p:cNvSpPr txBox="1"/>
          <p:nvPr/>
        </p:nvSpPr>
        <p:spPr>
          <a:xfrm>
            <a:off x="1524000" y="2682440"/>
            <a:ext cx="9144000" cy="746560"/>
          </a:xfrm>
          <a:prstGeom prst="rect">
            <a:avLst/>
          </a:prstGeom>
          <a:solidFill>
            <a:srgbClr val="7030A0"/>
          </a:solidFill>
          <a:ln>
            <a:noFill/>
          </a:ln>
        </p:spPr>
        <p:txBody>
          <a:bodyPr vert="horz" lIns="68580" tIns="34290" rIns="68580" bIns="34290" rtlCol="0" anchor="ctr">
            <a:noAutofit/>
          </a:bodyPr>
          <a:lstStyle>
            <a:lvl1pPr algn="ctr" defTabSz="914400" rtl="0" eaLnBrk="1" latinLnBrk="0" hangingPunct="1">
              <a:lnSpc>
                <a:spcPct val="90000"/>
              </a:lnSpc>
              <a:spcBef>
                <a:spcPct val="0"/>
              </a:spcBef>
              <a:buNone/>
              <a:defRPr sz="3600" b="0" kern="1200">
                <a:solidFill>
                  <a:schemeClr val="bg1"/>
                </a:solidFill>
                <a:effectLst>
                  <a:outerShdw blurRad="38100" dist="38100" dir="2700000" algn="tl">
                    <a:srgbClr val="000000">
                      <a:alpha val="43137"/>
                    </a:srgbClr>
                  </a:outerShdw>
                </a:effectLst>
                <a:latin typeface="+mj-lt"/>
                <a:ea typeface="Open Sans" pitchFamily="34" charset="0"/>
                <a:cs typeface="Open Sans" pitchFamily="34" charset="0"/>
              </a:defRPr>
            </a:lvl1pPr>
          </a:lstStyle>
          <a:p>
            <a:pPr fontAlgn="base">
              <a:lnSpc>
                <a:spcPct val="100000"/>
              </a:lnSpc>
              <a:spcAft>
                <a:spcPct val="0"/>
              </a:spcAft>
            </a:pPr>
            <a:r>
              <a:rPr lang="en-US" sz="4000" b="1" dirty="0">
                <a:solidFill>
                  <a:prstClr val="white"/>
                </a:solidFill>
                <a:latin typeface="Arial Black" panose="020B0A04020102020204" pitchFamily="34" charset="0"/>
                <a:ea typeface="Adobe Heiti Std R" panose="020B0400000000000000" pitchFamily="34" charset="-128"/>
              </a:rPr>
              <a:t>Unit 5</a:t>
            </a:r>
          </a:p>
        </p:txBody>
      </p:sp>
      <p:pic>
        <p:nvPicPr>
          <p:cNvPr id="2" name="Picture 1">
            <a:extLst>
              <a:ext uri="{FF2B5EF4-FFF2-40B4-BE49-F238E27FC236}">
                <a16:creationId xmlns:a16="http://schemas.microsoft.com/office/drawing/2014/main" id="{E976B21C-E906-2A83-90FB-2628F4CB18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5456" y="29026"/>
            <a:ext cx="1186543" cy="919239"/>
          </a:xfrm>
          <a:prstGeom prst="rect">
            <a:avLst/>
          </a:prstGeom>
        </p:spPr>
      </p:pic>
    </p:spTree>
    <p:extLst>
      <p:ext uri="{BB962C8B-B14F-4D97-AF65-F5344CB8AC3E}">
        <p14:creationId xmlns:p14="http://schemas.microsoft.com/office/powerpoint/2010/main" val="12785248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3232</TotalTime>
  <Words>2208</Words>
  <Application>Microsoft Office PowerPoint</Application>
  <PresentationFormat>Widescreen</PresentationFormat>
  <Paragraphs>330</Paragraphs>
  <Slides>36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Aptos</vt:lpstr>
      <vt:lpstr>Arial</vt:lpstr>
      <vt:lpstr>Arial Black</vt:lpstr>
      <vt:lpstr>Calibri</vt:lpstr>
      <vt:lpstr>Calibri Light</vt:lpstr>
      <vt:lpstr>Times New Roman</vt:lpstr>
      <vt:lpstr>Office Theme</vt:lpstr>
      <vt:lpstr>PowerPoint Presentation</vt:lpstr>
      <vt:lpstr>Teaching and Evaluation Scheme</vt:lpstr>
      <vt:lpstr>Course Objectives and Outcomes</vt:lpstr>
      <vt:lpstr>Mapping of Course Outcomes with Program Outcomes and Program Specific Outcomes:</vt:lpstr>
      <vt:lpstr>Syllabus</vt:lpstr>
      <vt:lpstr>Syllabus</vt:lpstr>
      <vt:lpstr>Study Material</vt:lpstr>
      <vt:lpstr>PowerPoint Presentation</vt:lpstr>
      <vt:lpstr>Learning Objectives</vt:lpstr>
      <vt:lpstr>The Business Environment </vt:lpstr>
      <vt:lpstr>Business Environment Factors</vt:lpstr>
      <vt:lpstr>PowerPoint Presentation</vt:lpstr>
      <vt:lpstr>PowerPoint Presentation</vt:lpstr>
      <vt:lpstr>Introduction to Basic Charts</vt:lpstr>
      <vt:lpstr>Introduction to Basic Charts</vt:lpstr>
      <vt:lpstr>Introduction to Basic Charts</vt:lpstr>
      <vt:lpstr>Introduction to Basic Charts</vt:lpstr>
      <vt:lpstr>Introduction to Basic Charts</vt:lpstr>
      <vt:lpstr>Introduction to Basic Charts</vt:lpstr>
      <vt:lpstr>Introduction to Basic Charts</vt:lpstr>
      <vt:lpstr>Introduction to Basic Charts</vt:lpstr>
      <vt:lpstr>Introduction to Basic Charts</vt:lpstr>
      <vt:lpstr>Introduction to Basic Charts</vt:lpstr>
      <vt:lpstr>Introduction to Basic Charts</vt:lpstr>
      <vt:lpstr>Introduction to Basic Charts</vt:lpstr>
      <vt:lpstr>Introduction to Basic Charts</vt:lpstr>
      <vt:lpstr>Introduction to Basic Charts</vt:lpstr>
      <vt:lpstr>PowerPoint Presentation</vt:lpstr>
      <vt:lpstr>Slicers in Power BI</vt:lpstr>
      <vt:lpstr>Slicers in Power BI</vt:lpstr>
      <vt:lpstr>Slicers in Power BI</vt:lpstr>
      <vt:lpstr>Slicers in Power BI</vt:lpstr>
      <vt:lpstr>Filters in Power BI</vt:lpstr>
      <vt:lpstr>Filters in Power BI</vt:lpstr>
      <vt:lpstr>Slicers and Filters in Power BI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Yogesh Nandanwar</dc:creator>
  <cp:lastModifiedBy>HP</cp:lastModifiedBy>
  <cp:revision>111</cp:revision>
  <dcterms:created xsi:type="dcterms:W3CDTF">2026-03-13T06:18:17Z</dcterms:created>
  <dcterms:modified xsi:type="dcterms:W3CDTF">2026-04-14T15:10:34Z</dcterms:modified>
</cp:coreProperties>
</file>